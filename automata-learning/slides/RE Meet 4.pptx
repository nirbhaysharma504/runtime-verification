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oboto Mono"/>
      <p:regular r:id="rId39"/>
      <p:bold r:id="rId40"/>
      <p:italic r:id="rId41"/>
      <p:boldItalic r:id="rId42"/>
    </p:embeddedFont>
    <p:embeddedFont>
      <p:font typeface="Merriweather"/>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5.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7.xml"/><Relationship Id="rId44" Type="http://schemas.openxmlformats.org/officeDocument/2006/relationships/font" Target="fonts/Merriweather-bold.fntdata"/><Relationship Id="rId21" Type="http://schemas.openxmlformats.org/officeDocument/2006/relationships/slide" Target="slides/slide16.xml"/><Relationship Id="rId43" Type="http://schemas.openxmlformats.org/officeDocument/2006/relationships/font" Target="fonts/Merriweather-regular.fntdata"/><Relationship Id="rId24" Type="http://schemas.openxmlformats.org/officeDocument/2006/relationships/slide" Target="slides/slide19.xml"/><Relationship Id="rId46" Type="http://schemas.openxmlformats.org/officeDocument/2006/relationships/font" Target="fonts/Merriweather-boldItalic.fntdata"/><Relationship Id="rId23" Type="http://schemas.openxmlformats.org/officeDocument/2006/relationships/slide" Target="slides/slide18.xml"/><Relationship Id="rId45" Type="http://schemas.openxmlformats.org/officeDocument/2006/relationships/font" Target="fonts/Merriweath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Mono-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1591679c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1591679c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1bd55767c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1bd55767c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cb6884c81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cb6884c8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cb6884c81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cb6884c81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cb6884c81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cb6884c8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8cb6884c81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8cb6884c81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cb6884c81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cb6884c81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cb6884c81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cb6884c81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cb6884c81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cb6884c81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cb6884c81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cb6884c81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25ea524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25ea524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25ea5240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25ea5240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25ea5240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25ea5240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25ea5240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25ea5240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25ea5240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25ea5240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825ea5240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825ea5240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25ea5240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825ea5240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25ea5240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825ea5240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25ea5240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25ea5240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25ea5240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25ea5240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25ea5240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825ea5240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219dc71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219dc71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219dc719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219dc719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219dc719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8219dc719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219dc719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8219dc719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219dc719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8219dc719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219dc719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8219dc719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219dc719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8219dc719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219dc719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8219dc719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219dc719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219dc719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219dc719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219dc719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219dc719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219dc719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Font typeface="Merriweather"/>
              <a:buNone/>
              <a:defRPr sz="3600">
                <a:latin typeface="Merriweather"/>
                <a:ea typeface="Merriweather"/>
                <a:cs typeface="Merriweather"/>
                <a:sym typeface="Merriweather"/>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Merriweather"/>
              <a:buChar char="●"/>
              <a:defRPr>
                <a:solidFill>
                  <a:schemeClr val="dk1"/>
                </a:solidFill>
                <a:latin typeface="Merriweather"/>
                <a:ea typeface="Merriweather"/>
                <a:cs typeface="Merriweather"/>
                <a:sym typeface="Merriweather"/>
              </a:defRPr>
            </a:lvl1pPr>
            <a:lvl2pPr indent="-317500" lvl="1" marL="9144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2pPr>
            <a:lvl3pPr indent="-317500" lvl="2" marL="13716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3pPr>
            <a:lvl4pPr indent="-317500" lvl="3" marL="18288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4pPr>
            <a:lvl5pPr indent="-317500" lvl="4" marL="22860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5pPr>
            <a:lvl6pPr indent="-317500" lvl="5" marL="27432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6pPr>
            <a:lvl7pPr indent="-317500" lvl="6" marL="32004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7pPr>
            <a:lvl8pPr indent="-317500" lvl="7" marL="36576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8pPr>
            <a:lvl9pPr indent="-317500" lvl="8" marL="4114800">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dk1"/>
              </a:buClr>
              <a:buSzPts val="1400"/>
              <a:buFont typeface="Merriweather"/>
              <a:buChar char="●"/>
              <a:defRPr sz="1400">
                <a:solidFill>
                  <a:schemeClr val="dk1"/>
                </a:solidFill>
                <a:latin typeface="Merriweather"/>
                <a:ea typeface="Merriweather"/>
                <a:cs typeface="Merriweather"/>
                <a:sym typeface="Merriweather"/>
              </a:defRPr>
            </a:lvl1pPr>
            <a:lvl2pPr indent="-304800" lvl="1" marL="9144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dk1"/>
              </a:buClr>
              <a:buSzPts val="1400"/>
              <a:buFont typeface="Merriweather"/>
              <a:buChar char="●"/>
              <a:defRPr sz="1400">
                <a:solidFill>
                  <a:schemeClr val="dk1"/>
                </a:solidFill>
                <a:latin typeface="Merriweather"/>
                <a:ea typeface="Merriweather"/>
                <a:cs typeface="Merriweather"/>
                <a:sym typeface="Merriweather"/>
              </a:defRPr>
            </a:lvl1pPr>
            <a:lvl2pPr indent="-304800" lvl="1" marL="9144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1800"/>
              <a:buFont typeface="Merriweather"/>
              <a:buNone/>
              <a:defRPr>
                <a:solidFill>
                  <a:schemeClr val="dk1"/>
                </a:solidFill>
                <a:latin typeface="Merriweather"/>
                <a:ea typeface="Merriweather"/>
                <a:cs typeface="Merriweather"/>
                <a:sym typeface="Merriweather"/>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Merriweather"/>
              <a:buChar char="●"/>
              <a:defRPr sz="1800">
                <a:solidFill>
                  <a:schemeClr val="dk1"/>
                </a:solidFill>
                <a:latin typeface="Merriweather"/>
                <a:ea typeface="Merriweather"/>
                <a:cs typeface="Merriweather"/>
                <a:sym typeface="Merriweather"/>
              </a:defRPr>
            </a:lvl1pPr>
            <a:lvl2pPr indent="-317500" lvl="1" marL="9144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2pPr>
            <a:lvl3pPr indent="-317500" lvl="2" marL="13716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3pPr>
            <a:lvl4pPr indent="-317500" lvl="3" marL="18288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4pPr>
            <a:lvl5pPr indent="-317500" lvl="4" marL="22860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5pPr>
            <a:lvl6pPr indent="-317500" lvl="5" marL="27432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6pPr>
            <a:lvl7pPr indent="-317500" lvl="6" marL="32004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7pPr>
            <a:lvl8pPr indent="-317500" lvl="7" marL="36576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8pPr>
            <a:lvl9pPr indent="-317500" lvl="8" marL="411480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RE Meet 4</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en-GB"/>
              <a:t>Learning Regular Sets from Queries and Counterexamples*</a:t>
            </a:r>
            <a:br>
              <a:rPr lang="en-GB"/>
            </a:br>
            <a:r>
              <a:rPr lang="en-GB" sz="2211"/>
              <a:t>-Dana Angluin</a:t>
            </a:r>
            <a:endParaRPr sz="221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56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a:t>
            </a:r>
            <a:endParaRPr/>
          </a:p>
        </p:txBody>
      </p:sp>
      <p:sp>
        <p:nvSpPr>
          <p:cNvPr id="61" name="Google Shape;61;p14"/>
          <p:cNvSpPr txBox="1"/>
          <p:nvPr>
            <p:ph idx="1" type="body"/>
          </p:nvPr>
        </p:nvSpPr>
        <p:spPr>
          <a:xfrm>
            <a:off x="311700" y="729350"/>
            <a:ext cx="8520600" cy="4262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GB" sz="1600"/>
              <a:t>A learning algorithm L* is described that correctly learns any regular set from any minimally adequate Teacher in polynomial time in the number of states of the minimum dfa for the set and the maximum length of any counterexample provided by the Teacher.</a:t>
            </a:r>
            <a:endParaRPr sz="1600"/>
          </a:p>
          <a:p>
            <a:pPr indent="-330200" lvl="0" marL="457200" rtl="0" algn="l">
              <a:spcBef>
                <a:spcPts val="1000"/>
              </a:spcBef>
              <a:spcAft>
                <a:spcPts val="0"/>
              </a:spcAft>
              <a:buSzPts val="1600"/>
              <a:buChar char="●"/>
            </a:pPr>
            <a:r>
              <a:rPr lang="en-GB" sz="1600"/>
              <a:t>When we teach someone, we don't just give them random data. We provide “crucial” examples and correct their mistakes to help them learn faster. This is the core idea behind the Learner and Teacher model. The learning process isn't passive (just looking at a pile of data); it's an  active dialogue where the Learner asks targeted questions to a “helpful” teacher to build its understanding of the system's rules.</a:t>
            </a:r>
            <a:endParaRPr sz="1600"/>
          </a:p>
          <a:p>
            <a:pPr indent="-330200" lvl="0" marL="457200" rtl="0" algn="l">
              <a:spcBef>
                <a:spcPts val="1000"/>
              </a:spcBef>
              <a:spcAft>
                <a:spcPts val="0"/>
              </a:spcAft>
              <a:buSzPts val="1600"/>
              <a:buChar char="●"/>
            </a:pPr>
            <a:r>
              <a:rPr lang="en-GB" sz="1600"/>
              <a:t>It is shown that in a stochastic setting the ability of the Teacher to test conjectures may be replaced by a random sampling oracle, EX( ).</a:t>
            </a:r>
            <a:endParaRPr sz="1600"/>
          </a:p>
          <a:p>
            <a:pPr indent="-317500" lvl="1" marL="914400" rtl="0" algn="l">
              <a:spcBef>
                <a:spcPts val="0"/>
              </a:spcBef>
              <a:spcAft>
                <a:spcPts val="0"/>
              </a:spcAft>
              <a:buSzPts val="1400"/>
              <a:buChar char="○"/>
            </a:pPr>
            <a:r>
              <a:rPr lang="en-GB"/>
              <a:t>Meaning the powerful (and somewhat unrealistic) ability to test for equivalence can be replaced by a random sampling oracle in a more practical, stochastic setting.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 Random Sampling Oracle</a:t>
            </a:r>
            <a:endParaRPr/>
          </a:p>
        </p:txBody>
      </p:sp>
      <p:sp>
        <p:nvSpPr>
          <p:cNvPr id="67" name="Google Shape;67;p15"/>
          <p:cNvSpPr txBox="1"/>
          <p:nvPr>
            <p:ph idx="1" type="body"/>
          </p:nvPr>
        </p:nvSpPr>
        <p:spPr>
          <a:xfrm>
            <a:off x="311700" y="1152475"/>
            <a:ext cx="8520600" cy="38976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GB" sz="1600"/>
              <a:t>When the Learner pushes the button, the oracle does two things: </a:t>
            </a:r>
            <a:endParaRPr sz="1600"/>
          </a:p>
          <a:p>
            <a:pPr indent="-330200" lvl="0" marL="457200" rtl="0" algn="l">
              <a:lnSpc>
                <a:spcPct val="95000"/>
              </a:lnSpc>
              <a:spcBef>
                <a:spcPts val="1200"/>
              </a:spcBef>
              <a:spcAft>
                <a:spcPts val="0"/>
              </a:spcAft>
              <a:buSzPts val="1600"/>
              <a:buChar char="●"/>
            </a:pPr>
            <a:r>
              <a:rPr lang="en-GB" sz="1600"/>
              <a:t>It picks a random string x from the universe of all possible strings, based on some underlying probability distribution.</a:t>
            </a:r>
            <a:endParaRPr sz="1600"/>
          </a:p>
          <a:p>
            <a:pPr indent="-330200" lvl="0" marL="457200" rtl="0" algn="l">
              <a:lnSpc>
                <a:spcPct val="95000"/>
              </a:lnSpc>
              <a:spcBef>
                <a:spcPts val="1000"/>
              </a:spcBef>
              <a:spcAft>
                <a:spcPts val="0"/>
              </a:spcAft>
              <a:buSzPts val="1600"/>
              <a:buChar char="●"/>
            </a:pPr>
            <a:r>
              <a:rPr lang="en-GB" sz="1600"/>
              <a:t>It tells the Learner whether that string x is a member of the unknown language L (giving a "yes" or "no" label). Essentially, it provides a randomly generated, correctly labeled example.</a:t>
            </a:r>
            <a:endParaRPr sz="1600"/>
          </a:p>
          <a:p>
            <a:pPr indent="0" lvl="0" marL="457200" rtl="0" algn="l">
              <a:lnSpc>
                <a:spcPct val="95000"/>
              </a:lnSpc>
              <a:spcBef>
                <a:spcPts val="1200"/>
              </a:spcBef>
              <a:spcAft>
                <a:spcPts val="0"/>
              </a:spcAft>
              <a:buNone/>
            </a:pPr>
            <a:r>
              <a:rPr lang="en-GB" sz="1600"/>
              <a:t>Instead of asking a Teacher for a perfect proof of correctness since this Equivalence Query is a very strong assumption and it requires the Teacher to have a perfect model and a way to compare it. </a:t>
            </a:r>
            <a:endParaRPr sz="1600"/>
          </a:p>
          <a:p>
            <a:pPr indent="0" lvl="0" marL="457200" rtl="0" algn="l">
              <a:lnSpc>
                <a:spcPct val="95000"/>
              </a:lnSpc>
              <a:spcBef>
                <a:spcPts val="1200"/>
              </a:spcBef>
              <a:spcAft>
                <a:spcPts val="1200"/>
              </a:spcAft>
              <a:buNone/>
            </a:pPr>
            <a:r>
              <a:rPr lang="en-GB" sz="1600"/>
              <a:t>Instead the Learner tests its guessed automaton against a large number of these random samples . A mismatch provides a counterexample, while a lack of mismatches gives high statistical confidence that the learned model is "approximately correct"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Minimally Adequate Teachers</a:t>
            </a:r>
            <a:endParaRPr/>
          </a:p>
        </p:txBody>
      </p:sp>
      <p:sp>
        <p:nvSpPr>
          <p:cNvPr id="73" name="Google Shape;73;p16"/>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The Teacher's Two Core Abilities:</a:t>
            </a:r>
            <a:endParaRPr/>
          </a:p>
          <a:p>
            <a:pPr indent="-334327" lvl="0" marL="457200" rtl="0" algn="l">
              <a:spcBef>
                <a:spcPts val="1200"/>
              </a:spcBef>
              <a:spcAft>
                <a:spcPts val="0"/>
              </a:spcAft>
              <a:buSzPct val="100000"/>
              <a:buChar char="●"/>
            </a:pPr>
            <a:r>
              <a:rPr lang="en-GB"/>
              <a:t>Membership Queries: The Learner can provide any string </a:t>
            </a:r>
            <a:r>
              <a:rPr b="1" lang="en-GB"/>
              <a:t>t</a:t>
            </a:r>
            <a:r>
              <a:rPr lang="en-GB"/>
              <a:t> and ask the Teacher if that string is a member of the unknown set </a:t>
            </a:r>
            <a:r>
              <a:rPr b="1" lang="en-GB"/>
              <a:t>U</a:t>
            </a:r>
            <a:r>
              <a:rPr lang="en-GB"/>
              <a:t>. The Teacher must provide a correct "</a:t>
            </a:r>
            <a:r>
              <a:rPr b="1" lang="en-GB"/>
              <a:t>yes</a:t>
            </a:r>
            <a:r>
              <a:rPr lang="en-GB"/>
              <a:t>" or "</a:t>
            </a:r>
            <a:r>
              <a:rPr b="1" lang="en-GB"/>
              <a:t>no</a:t>
            </a:r>
            <a:r>
              <a:rPr lang="en-GB"/>
              <a:t>" answer . This is the most basic tool the Learner has for gathering specific facts.</a:t>
            </a:r>
            <a:endParaRPr/>
          </a:p>
          <a:p>
            <a:pPr indent="-334327" lvl="0" marL="457200" rtl="0" algn="l">
              <a:spcBef>
                <a:spcPts val="1000"/>
              </a:spcBef>
              <a:spcAft>
                <a:spcPts val="0"/>
              </a:spcAft>
              <a:buSzPct val="100000"/>
              <a:buChar char="●"/>
            </a:pPr>
            <a:r>
              <a:rPr lang="en-GB"/>
              <a:t>Equivalence Queries (Conjectures): After gathering enough information, the Learner can form a complete hypothesis by constructing a DFA. It then presents this DFA to the Teacher as a conjecture. The Teacher's job is to check if the language accepted by this DFA is exactly the same as the unknown language </a:t>
            </a:r>
            <a:r>
              <a:rPr b="1" lang="en-GB"/>
              <a:t>U</a:t>
            </a:r>
            <a:r>
              <a:rPr lang="en-GB"/>
              <a:t>:</a:t>
            </a:r>
            <a:endParaRPr/>
          </a:p>
          <a:p>
            <a:pPr indent="-310832" lvl="1" marL="914400" rtl="0" algn="l">
              <a:spcBef>
                <a:spcPts val="1000"/>
              </a:spcBef>
              <a:spcAft>
                <a:spcPts val="0"/>
              </a:spcAft>
              <a:buSzPct val="100000"/>
              <a:buChar char="○"/>
            </a:pPr>
            <a:r>
              <a:rPr lang="en-GB"/>
              <a:t>if the Learner's guess is correct, the Teacher replies "</a:t>
            </a:r>
            <a:r>
              <a:rPr b="1" lang="en-GB"/>
              <a:t>yes</a:t>
            </a:r>
            <a:r>
              <a:rPr lang="en-GB"/>
              <a:t>," and the learning process is complete.</a:t>
            </a:r>
            <a:endParaRPr/>
          </a:p>
          <a:p>
            <a:pPr indent="-310832" lvl="1" marL="914400" rtl="0" algn="l">
              <a:spcBef>
                <a:spcPts val="0"/>
              </a:spcBef>
              <a:spcAft>
                <a:spcPts val="0"/>
              </a:spcAft>
              <a:buSzPct val="100000"/>
              <a:buChar char="○"/>
            </a:pPr>
            <a:r>
              <a:rPr lang="en-GB"/>
              <a:t>If the guess is incorrect, the Teacher must reply with a </a:t>
            </a:r>
            <a:r>
              <a:rPr b="1" lang="en-GB"/>
              <a:t>counterexample</a:t>
            </a:r>
            <a:r>
              <a:rPr lang="en-GB"/>
              <a:t>. This is a specific string that proves the Learner's DFA is wrong. The counterexample will be a string that is either in </a:t>
            </a:r>
            <a:r>
              <a:rPr b="1" lang="en-GB"/>
              <a:t>U</a:t>
            </a:r>
            <a:r>
              <a:rPr lang="en-GB"/>
              <a:t> but rejected by the Learner's DFA, or not in </a:t>
            </a:r>
            <a:r>
              <a:rPr b="1" lang="en-GB"/>
              <a:t>U</a:t>
            </a:r>
            <a:r>
              <a:rPr lang="en-GB"/>
              <a:t> but accepted by the Learner's DFA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"Reasonable" is the Teacher?</a:t>
            </a:r>
            <a:endParaRPr/>
          </a:p>
        </p:txBody>
      </p:sp>
      <p:sp>
        <p:nvSpPr>
          <p:cNvPr id="79" name="Google Shape;79;p17"/>
          <p:cNvSpPr txBox="1"/>
          <p:nvPr>
            <p:ph idx="1" type="body"/>
          </p:nvPr>
        </p:nvSpPr>
        <p:spPr>
          <a:xfrm>
            <a:off x="311700" y="1152475"/>
            <a:ext cx="8520600" cy="38493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GB"/>
              <a:t>Membership Queries are </a:t>
            </a:r>
            <a:r>
              <a:rPr b="1" lang="en-GB"/>
              <a:t>Realistic</a:t>
            </a:r>
            <a:r>
              <a:rPr lang="en-GB"/>
              <a:t>:</a:t>
            </a:r>
            <a:endParaRPr/>
          </a:p>
          <a:p>
            <a:pPr indent="-322580" lvl="1" marL="914400" rtl="0" algn="l">
              <a:spcBef>
                <a:spcPts val="0"/>
              </a:spcBef>
              <a:spcAft>
                <a:spcPts val="0"/>
              </a:spcAft>
              <a:buSzPct val="100000"/>
              <a:buChar char="○"/>
            </a:pPr>
            <a:r>
              <a:rPr lang="en-GB" sz="1600"/>
              <a:t>The paper argues that the ability to classify a single example (a membership query) is a very reasonable and "unobjectionable" capability to expect from any expert or system you're trying to model. It's the most basic form of interaction.</a:t>
            </a:r>
            <a:endParaRPr sz="1600"/>
          </a:p>
          <a:p>
            <a:pPr indent="-322580" lvl="0" marL="457200" rtl="0" algn="l">
              <a:spcBef>
                <a:spcPts val="0"/>
              </a:spcBef>
              <a:spcAft>
                <a:spcPts val="0"/>
              </a:spcAft>
              <a:buSzPct val="100000"/>
              <a:buChar char="●"/>
            </a:pPr>
            <a:r>
              <a:rPr lang="en-GB" sz="1600"/>
              <a:t>Equivalence Queries are "</a:t>
            </a:r>
            <a:r>
              <a:rPr b="1" lang="en-GB" sz="1600"/>
              <a:t>Problematic</a:t>
            </a:r>
            <a:r>
              <a:rPr lang="en-GB" sz="1600"/>
              <a:t>": </a:t>
            </a:r>
            <a:endParaRPr sz="1600"/>
          </a:p>
          <a:p>
            <a:pPr indent="-322580" lvl="1" marL="914400" rtl="0" algn="l">
              <a:spcBef>
                <a:spcPts val="0"/>
              </a:spcBef>
              <a:spcAft>
                <a:spcPts val="0"/>
              </a:spcAft>
              <a:buSzPct val="100000"/>
              <a:buChar char="○"/>
            </a:pPr>
            <a:r>
              <a:rPr lang="en-GB" sz="1600"/>
              <a:t>The paper frankly admits that the equivalence query is a much stronger and more questionable assumption. It seems to require that the Teacher:</a:t>
            </a:r>
            <a:endParaRPr sz="1600"/>
          </a:p>
          <a:p>
            <a:pPr indent="-322580" lvl="2" marL="1371600" rtl="0" algn="l">
              <a:spcBef>
                <a:spcPts val="0"/>
              </a:spcBef>
              <a:spcAft>
                <a:spcPts val="0"/>
              </a:spcAft>
              <a:buSzPct val="100000"/>
              <a:buChar char="■"/>
            </a:pPr>
            <a:r>
              <a:rPr lang="en-GB" sz="1600"/>
              <a:t>Already has a perfect, explicit representation of the correct model.</a:t>
            </a:r>
            <a:endParaRPr sz="1600"/>
          </a:p>
          <a:p>
            <a:pPr indent="-322580" lvl="2" marL="1371600" rtl="0" algn="l">
              <a:spcBef>
                <a:spcPts val="0"/>
              </a:spcBef>
              <a:spcAft>
                <a:spcPts val="0"/>
              </a:spcAft>
              <a:buSzPct val="100000"/>
              <a:buChar char="■"/>
            </a:pPr>
            <a:r>
              <a:rPr lang="en-GB" sz="1600"/>
              <a:t>Can perform what might be a very complex computation to test if the Learner's guessed DFA is equivalent to its own.</a:t>
            </a:r>
            <a:endParaRPr sz="1600"/>
          </a:p>
          <a:p>
            <a:pPr indent="0" lvl="0" marL="0" rtl="0" algn="l">
              <a:spcBef>
                <a:spcPts val="1200"/>
              </a:spcBef>
              <a:spcAft>
                <a:spcPts val="0"/>
              </a:spcAft>
              <a:buNone/>
            </a:pPr>
            <a:r>
              <a:rPr lang="en-GB" sz="1600"/>
              <a:t>To soften this strong assumption, the paper points out that this perfect equivalence oracle can be replaced by a more practical  random sampling oracle in a real-world setting. </a:t>
            </a:r>
            <a:endParaRPr sz="1600"/>
          </a:p>
          <a:p>
            <a:pPr indent="0" lvl="0" marL="0" rtl="0" algn="l">
              <a:spcBef>
                <a:spcPts val="1200"/>
              </a:spcBef>
              <a:spcAft>
                <a:spcPts val="1200"/>
              </a:spcAft>
              <a:buNone/>
            </a:pPr>
            <a:r>
              <a:rPr lang="en-GB" sz="1600"/>
              <a:t>This means instead of asking "Is my model perfect?", you ask "</a:t>
            </a:r>
            <a:r>
              <a:rPr b="1" lang="en-GB" sz="1600"/>
              <a:t>Does my model work for a large number of random examples?</a:t>
            </a:r>
            <a:r>
              <a:rPr lang="en-GB" sz="1600"/>
              <a:t>".</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Feasible is the Teacher's Job?</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600"/>
              <a:t>Can the </a:t>
            </a:r>
            <a:r>
              <a:rPr lang="en-GB" sz="1600"/>
              <a:t>teacher</a:t>
            </a:r>
            <a:r>
              <a:rPr lang="en-GB" sz="1600"/>
              <a:t> </a:t>
            </a:r>
            <a:r>
              <a:rPr lang="en-GB" sz="1600"/>
              <a:t>perform its job efficiently?</a:t>
            </a:r>
            <a:endParaRPr sz="1600"/>
          </a:p>
          <a:p>
            <a:pPr indent="0" lvl="0" marL="0" rtl="0" algn="l">
              <a:spcBef>
                <a:spcPts val="1200"/>
              </a:spcBef>
              <a:spcAft>
                <a:spcPts val="0"/>
              </a:spcAft>
              <a:buClr>
                <a:schemeClr val="dk1"/>
              </a:buClr>
              <a:buSzPts val="1100"/>
              <a:buFont typeface="Arial"/>
              <a:buNone/>
            </a:pPr>
            <a:r>
              <a:rPr lang="en-GB" sz="1400">
                <a:latin typeface="Arial"/>
                <a:ea typeface="Arial"/>
                <a:cs typeface="Arial"/>
                <a:sym typeface="Arial"/>
              </a:rPr>
              <a:t>The answer is yes, under the right conditions. If we assume the unknown language is represented by a DFA with n states, then the Teacher's job is computationally easy :</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b="1" lang="en-GB" sz="1400">
                <a:latin typeface="Arial"/>
                <a:ea typeface="Arial"/>
                <a:cs typeface="Arial"/>
                <a:sym typeface="Arial"/>
              </a:rPr>
              <a:t>Answering Membership Queries:</a:t>
            </a:r>
            <a:r>
              <a:rPr lang="en-GB" sz="1400">
                <a:latin typeface="Arial"/>
                <a:ea typeface="Arial"/>
                <a:cs typeface="Arial"/>
                <a:sym typeface="Arial"/>
              </a:rPr>
              <a:t> Simply involves running the given string on the DFA, which is very fast.</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en-GB" sz="1400">
                <a:latin typeface="Arial"/>
                <a:ea typeface="Arial"/>
                <a:cs typeface="Arial"/>
                <a:sym typeface="Arial"/>
              </a:rPr>
              <a:t>Answering Equivalence Queries:</a:t>
            </a:r>
            <a:r>
              <a:rPr lang="en-GB" sz="1400">
                <a:latin typeface="Arial"/>
                <a:ea typeface="Arial"/>
                <a:cs typeface="Arial"/>
                <a:sym typeface="Arial"/>
              </a:rPr>
              <a:t> Involves running a standard, polynomial-time algorithm for testing if two DFAs are equivalent. This algorithm also conveniently provides a counterexample if they are not.</a:t>
            </a:r>
            <a:endParaRPr sz="14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lang="en-GB" sz="1400">
                <a:latin typeface="Arial"/>
                <a:ea typeface="Arial"/>
                <a:cs typeface="Arial"/>
                <a:sym typeface="Arial"/>
              </a:rPr>
              <a:t>This shows that the model doesn't hide an impossibly difficult computation on the Teacher's side.</a:t>
            </a:r>
            <a:endParaRPr sz="1400">
              <a:latin typeface="Arial"/>
              <a:ea typeface="Arial"/>
              <a:cs typeface="Arial"/>
              <a:sym typeface="Arial"/>
            </a:endParaRPr>
          </a:p>
          <a:p>
            <a:pPr indent="0" lvl="0" marL="0" rtl="0" algn="l">
              <a:spcBef>
                <a:spcPts val="1200"/>
              </a:spcBef>
              <a:spcAft>
                <a:spcPts val="120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Related Results - Solving a Hard Problem</a:t>
            </a:r>
            <a:endParaRPr/>
          </a:p>
        </p:txBody>
      </p:sp>
      <p:sp>
        <p:nvSpPr>
          <p:cNvPr id="91" name="Google Shape;91;p19"/>
          <p:cNvSpPr txBox="1"/>
          <p:nvPr>
            <p:ph idx="1" type="body"/>
          </p:nvPr>
        </p:nvSpPr>
        <p:spPr>
          <a:xfrm>
            <a:off x="311700" y="1389600"/>
            <a:ext cx="85206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SzPts val="1400"/>
              <a:buFont typeface="Arial"/>
              <a:buChar char="●"/>
            </a:pPr>
            <a:r>
              <a:rPr b="1" lang="en-GB" sz="1400">
                <a:latin typeface="Arial"/>
                <a:ea typeface="Arial"/>
                <a:cs typeface="Arial"/>
                <a:sym typeface="Arial"/>
              </a:rPr>
              <a:t>The Challenge: A Computationally Hard Problem</a:t>
            </a:r>
            <a:endParaRPr b="1" sz="1400">
              <a:latin typeface="Arial"/>
              <a:ea typeface="Arial"/>
              <a:cs typeface="Arial"/>
              <a:sym typeface="Arial"/>
            </a:endParaRPr>
          </a:p>
          <a:p>
            <a:pPr indent="-317500" lvl="1" marL="914400" rtl="0" algn="l">
              <a:spcBef>
                <a:spcPts val="0"/>
              </a:spcBef>
              <a:spcAft>
                <a:spcPts val="0"/>
              </a:spcAft>
              <a:buSzPts val="1400"/>
              <a:buFont typeface="Arial"/>
              <a:buChar char="○"/>
            </a:pPr>
            <a:r>
              <a:rPr lang="en-GB">
                <a:latin typeface="Arial"/>
                <a:ea typeface="Arial"/>
                <a:cs typeface="Arial"/>
                <a:sym typeface="Arial"/>
              </a:rPr>
              <a:t>Prior work (by E. M. Gold) proved that finding the smallest DFA from a static set of positive and negative examples is </a:t>
            </a:r>
            <a:r>
              <a:rPr b="1" lang="en-GB">
                <a:latin typeface="Arial"/>
                <a:ea typeface="Arial"/>
                <a:cs typeface="Arial"/>
                <a:sym typeface="Arial"/>
              </a:rPr>
              <a:t>NP-hard</a:t>
            </a:r>
            <a:r>
              <a:rPr lang="en-GB">
                <a:latin typeface="Arial"/>
                <a:ea typeface="Arial"/>
                <a:cs typeface="Arial"/>
                <a:sym typeface="Arial"/>
              </a:rPr>
              <a:t> .</a:t>
            </a:r>
            <a:endParaRPr>
              <a:latin typeface="Arial"/>
              <a:ea typeface="Arial"/>
              <a:cs typeface="Arial"/>
              <a:sym typeface="Arial"/>
            </a:endParaRPr>
          </a:p>
          <a:p>
            <a:pPr indent="-317500" lvl="1" marL="914400" rtl="0" algn="l">
              <a:spcBef>
                <a:spcPts val="0"/>
              </a:spcBef>
              <a:spcAft>
                <a:spcPts val="0"/>
              </a:spcAft>
              <a:buSzPts val="1400"/>
              <a:buFont typeface="Arial"/>
              <a:buChar char="○"/>
            </a:pPr>
            <a:r>
              <a:rPr lang="en-GB">
                <a:latin typeface="Arial"/>
                <a:ea typeface="Arial"/>
                <a:cs typeface="Arial"/>
                <a:sym typeface="Arial"/>
              </a:rPr>
              <a:t>This means there is no known efficient algorithm, the problem is considered computationally intractable.</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b="1" lang="en-GB" sz="1400">
                <a:latin typeface="Arial"/>
                <a:ea typeface="Arial"/>
                <a:cs typeface="Arial"/>
                <a:sym typeface="Arial"/>
              </a:rPr>
              <a:t>The Breakthrough: The Power of Active Queries</a:t>
            </a:r>
            <a:endParaRPr b="1" sz="1400">
              <a:latin typeface="Arial"/>
              <a:ea typeface="Arial"/>
              <a:cs typeface="Arial"/>
              <a:sym typeface="Arial"/>
            </a:endParaRPr>
          </a:p>
          <a:p>
            <a:pPr indent="-317500" lvl="1" marL="914400" rtl="0" algn="l">
              <a:spcBef>
                <a:spcPts val="0"/>
              </a:spcBef>
              <a:spcAft>
                <a:spcPts val="0"/>
              </a:spcAft>
              <a:buSzPts val="1400"/>
              <a:buFont typeface="Arial"/>
              <a:buChar char="○"/>
            </a:pPr>
            <a:r>
              <a:rPr lang="en-GB">
                <a:latin typeface="Arial"/>
                <a:ea typeface="Arial"/>
                <a:cs typeface="Arial"/>
                <a:sym typeface="Arial"/>
              </a:rPr>
              <a:t>Angluin's key insight is that this hard problem becomes efficiently (polynomially) solvable if the Learner can </a:t>
            </a:r>
            <a:r>
              <a:rPr b="1" lang="en-GB">
                <a:latin typeface="Arial"/>
                <a:ea typeface="Arial"/>
                <a:cs typeface="Arial"/>
                <a:sym typeface="Arial"/>
              </a:rPr>
              <a:t>actively ask membership queries</a:t>
            </a:r>
            <a:r>
              <a:rPr lang="en-GB">
                <a:latin typeface="Arial"/>
                <a:ea typeface="Arial"/>
                <a:cs typeface="Arial"/>
                <a:sym typeface="Arial"/>
              </a:rPr>
              <a:t> .</a:t>
            </a:r>
            <a:endParaRPr>
              <a:latin typeface="Arial"/>
              <a:ea typeface="Arial"/>
              <a:cs typeface="Arial"/>
              <a:sym typeface="Arial"/>
            </a:endParaRPr>
          </a:p>
          <a:p>
            <a:pPr indent="-317500" lvl="1" marL="914400" rtl="0" algn="l">
              <a:spcBef>
                <a:spcPts val="0"/>
              </a:spcBef>
              <a:spcAft>
                <a:spcPts val="0"/>
              </a:spcAft>
              <a:buSzPts val="1400"/>
              <a:buFont typeface="Arial"/>
              <a:buChar char="○"/>
            </a:pPr>
            <a:r>
              <a:rPr lang="en-GB">
                <a:latin typeface="Arial"/>
                <a:ea typeface="Arial"/>
                <a:cs typeface="Arial"/>
                <a:sym typeface="Arial"/>
              </a:rPr>
              <a:t>This "active learning" approach avoids the intractable search by allowing the algorithm to gather specific, targeted information as needed.</a:t>
            </a:r>
            <a:endParaRPr>
              <a:latin typeface="Arial"/>
              <a:ea typeface="Arial"/>
              <a:cs typeface="Arial"/>
              <a:sym typeface="Arial"/>
            </a:endParaRPr>
          </a:p>
          <a:p>
            <a:pPr indent="0" lvl="0" marL="0" rtl="0" algn="l">
              <a:spcBef>
                <a:spcPts val="1200"/>
              </a:spcBef>
              <a:spcAft>
                <a:spcPts val="1200"/>
              </a:spcAft>
              <a:buNone/>
            </a:pPr>
            <a:r>
              <a:t/>
            </a:r>
            <a:endParaRPr sz="11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Observation Table</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GB" sz="1400">
                <a:latin typeface="Arial"/>
                <a:ea typeface="Arial"/>
                <a:cs typeface="Arial"/>
                <a:sym typeface="Arial"/>
              </a:rPr>
              <a:t>The Learner organizes everything it learns from </a:t>
            </a:r>
            <a:r>
              <a:rPr b="1" lang="en-GB" sz="1400">
                <a:latin typeface="Arial"/>
                <a:ea typeface="Arial"/>
                <a:cs typeface="Arial"/>
                <a:sym typeface="Arial"/>
              </a:rPr>
              <a:t>Membership Queries</a:t>
            </a:r>
            <a:r>
              <a:rPr lang="en-GB" sz="1400">
                <a:latin typeface="Arial"/>
                <a:ea typeface="Arial"/>
                <a:cs typeface="Arial"/>
                <a:sym typeface="Arial"/>
              </a:rPr>
              <a:t> into a data structure called an </a:t>
            </a:r>
            <a:r>
              <a:rPr b="1" lang="en-GB" sz="1400">
                <a:latin typeface="Arial"/>
                <a:ea typeface="Arial"/>
                <a:cs typeface="Arial"/>
                <a:sym typeface="Arial"/>
              </a:rPr>
              <a:t>Observation Table</a:t>
            </a:r>
            <a:r>
              <a:rPr lang="en-GB" sz="1400">
                <a:latin typeface="Arial"/>
                <a:ea typeface="Arial"/>
                <a:cs typeface="Arial"/>
                <a:sym typeface="Arial"/>
              </a:rPr>
              <a:t>.</a:t>
            </a:r>
            <a:endParaRPr sz="14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lang="en-GB" sz="1400">
                <a:latin typeface="Arial"/>
                <a:ea typeface="Arial"/>
                <a:cs typeface="Arial"/>
                <a:sym typeface="Arial"/>
              </a:rPr>
              <a:t>It consists of three parts: </a:t>
            </a:r>
            <a:r>
              <a:rPr lang="en-GB" sz="1400">
                <a:latin typeface="Roboto Mono"/>
                <a:ea typeface="Roboto Mono"/>
                <a:cs typeface="Roboto Mono"/>
                <a:sym typeface="Roboto Mono"/>
              </a:rPr>
              <a:t>(S, E, T)</a:t>
            </a:r>
            <a:r>
              <a:rPr lang="en-GB" sz="1400">
                <a:latin typeface="Arial"/>
                <a:ea typeface="Arial"/>
                <a:cs typeface="Arial"/>
                <a:sym typeface="Arial"/>
              </a:rPr>
              <a:t>.</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b="1" lang="en-GB" sz="1400">
                <a:latin typeface="Arial"/>
                <a:ea typeface="Arial"/>
                <a:cs typeface="Arial"/>
                <a:sym typeface="Arial"/>
              </a:rPr>
              <a:t>S (State Prefixes)</a:t>
            </a:r>
            <a:r>
              <a:rPr lang="en-GB" sz="1400">
                <a:latin typeface="Arial"/>
                <a:ea typeface="Arial"/>
                <a:cs typeface="Arial"/>
                <a:sym typeface="Arial"/>
              </a:rPr>
              <a:t>: A set of strings representing paths from the start state. These are the candidates for the states of the DFA we're building. This set is always </a:t>
            </a:r>
            <a:r>
              <a:rPr b="1" lang="en-GB" sz="1400">
                <a:latin typeface="Arial"/>
                <a:ea typeface="Arial"/>
                <a:cs typeface="Arial"/>
                <a:sym typeface="Arial"/>
              </a:rPr>
              <a:t>prefix-closed</a:t>
            </a:r>
            <a:r>
              <a:rPr lang="en-GB" sz="1400">
                <a:latin typeface="Arial"/>
                <a:ea typeface="Arial"/>
                <a:cs typeface="Arial"/>
                <a:sym typeface="Arial"/>
              </a:rPr>
              <a:t> </a:t>
            </a:r>
            <a:endParaRPr sz="1400">
              <a:latin typeface="Arial"/>
              <a:ea typeface="Arial"/>
              <a:cs typeface="Arial"/>
              <a:sym typeface="Arial"/>
            </a:endParaRPr>
          </a:p>
          <a:p>
            <a:pPr indent="0" lvl="0" marL="457200" rtl="0" algn="l">
              <a:spcBef>
                <a:spcPts val="1200"/>
              </a:spcBef>
              <a:spcAft>
                <a:spcPts val="0"/>
              </a:spcAft>
              <a:buNone/>
            </a:pPr>
            <a:r>
              <a:rPr lang="en-GB" sz="1400">
                <a:latin typeface="Arial"/>
                <a:ea typeface="Arial"/>
                <a:cs typeface="Arial"/>
                <a:sym typeface="Arial"/>
              </a:rPr>
              <a:t>(if </a:t>
            </a:r>
            <a:r>
              <a:rPr lang="en-GB" sz="1400">
                <a:latin typeface="Roboto Mono"/>
                <a:ea typeface="Roboto Mono"/>
                <a:cs typeface="Roboto Mono"/>
                <a:sym typeface="Roboto Mono"/>
              </a:rPr>
              <a:t>"ab"</a:t>
            </a:r>
            <a:r>
              <a:rPr lang="en-GB" sz="1400">
                <a:latin typeface="Arial"/>
                <a:ea typeface="Arial"/>
                <a:cs typeface="Arial"/>
                <a:sym typeface="Arial"/>
              </a:rPr>
              <a:t> is in S, </a:t>
            </a:r>
            <a:r>
              <a:rPr lang="en-GB" sz="1400">
                <a:latin typeface="Roboto Mono"/>
                <a:ea typeface="Roboto Mono"/>
                <a:cs typeface="Roboto Mono"/>
                <a:sym typeface="Roboto Mono"/>
              </a:rPr>
              <a:t>"a"</a:t>
            </a:r>
            <a:r>
              <a:rPr lang="en-GB" sz="1400">
                <a:latin typeface="Arial"/>
                <a:ea typeface="Arial"/>
                <a:cs typeface="Arial"/>
                <a:sym typeface="Arial"/>
              </a:rPr>
              <a:t> and </a:t>
            </a:r>
            <a:r>
              <a:rPr lang="en-GB" sz="1400">
                <a:latin typeface="Roboto Mono"/>
                <a:ea typeface="Roboto Mono"/>
                <a:cs typeface="Roboto Mono"/>
                <a:sym typeface="Roboto Mono"/>
              </a:rPr>
              <a:t>""</a:t>
            </a:r>
            <a:r>
              <a:rPr lang="en-GB" sz="1400">
                <a:latin typeface="Arial"/>
                <a:ea typeface="Arial"/>
                <a:cs typeface="Arial"/>
                <a:sym typeface="Arial"/>
              </a:rPr>
              <a:t> must also be).</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b="1" lang="en-GB" sz="1400">
                <a:latin typeface="Arial"/>
                <a:ea typeface="Arial"/>
                <a:cs typeface="Arial"/>
                <a:sym typeface="Arial"/>
              </a:rPr>
              <a:t>E (Experiment Suffixes)</a:t>
            </a:r>
            <a:r>
              <a:rPr lang="en-GB" sz="1400">
                <a:latin typeface="Arial"/>
                <a:ea typeface="Arial"/>
                <a:cs typeface="Arial"/>
                <a:sym typeface="Arial"/>
              </a:rPr>
              <a:t>: A set of strings used to test and distinguish the states in </a:t>
            </a:r>
            <a:r>
              <a:rPr lang="en-GB" sz="1400">
                <a:latin typeface="Roboto Mono"/>
                <a:ea typeface="Roboto Mono"/>
                <a:cs typeface="Roboto Mono"/>
                <a:sym typeface="Roboto Mono"/>
              </a:rPr>
              <a:t>S</a:t>
            </a:r>
            <a:r>
              <a:rPr lang="en-GB" sz="1400">
                <a:latin typeface="Arial"/>
                <a:ea typeface="Arial"/>
                <a:cs typeface="Arial"/>
                <a:sym typeface="Arial"/>
              </a:rPr>
              <a:t>. They are the "experiments" we run from each potential state. This set is </a:t>
            </a:r>
            <a:r>
              <a:rPr b="1" lang="en-GB" sz="1400">
                <a:latin typeface="Arial"/>
                <a:ea typeface="Arial"/>
                <a:cs typeface="Arial"/>
                <a:sym typeface="Arial"/>
              </a:rPr>
              <a:t>suffix-closed</a:t>
            </a:r>
            <a:r>
              <a:rPr lang="en-GB" sz="1400">
                <a:latin typeface="Arial"/>
                <a:ea typeface="Arial"/>
                <a:cs typeface="Arial"/>
                <a:sym typeface="Arial"/>
              </a:rPr>
              <a:t>.</a:t>
            </a:r>
            <a:endParaRPr sz="1400">
              <a:latin typeface="Arial"/>
              <a:ea typeface="Arial"/>
              <a:cs typeface="Arial"/>
              <a:sym typeface="Arial"/>
            </a:endParaRPr>
          </a:p>
          <a:p>
            <a:pPr indent="-317500" lvl="0" marL="457200" rtl="0" algn="l">
              <a:spcBef>
                <a:spcPts val="1000"/>
              </a:spcBef>
              <a:spcAft>
                <a:spcPts val="0"/>
              </a:spcAft>
              <a:buSzPts val="1400"/>
              <a:buFont typeface="Arial"/>
              <a:buChar char="●"/>
            </a:pPr>
            <a:r>
              <a:rPr b="1" lang="en-GB" sz="1400">
                <a:latin typeface="Arial"/>
                <a:ea typeface="Arial"/>
                <a:cs typeface="Arial"/>
                <a:sym typeface="Arial"/>
              </a:rPr>
              <a:t>T (The Data)</a:t>
            </a:r>
            <a:r>
              <a:rPr lang="en-GB" sz="1400">
                <a:latin typeface="Arial"/>
                <a:ea typeface="Arial"/>
                <a:cs typeface="Arial"/>
                <a:sym typeface="Arial"/>
              </a:rPr>
              <a:t>: A function that stores the results.</a:t>
            </a:r>
            <a:endParaRPr sz="14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 </a:t>
            </a:r>
            <a:r>
              <a:rPr lang="en-GB">
                <a:latin typeface="Roboto Mono"/>
                <a:ea typeface="Roboto Mono"/>
                <a:cs typeface="Roboto Mono"/>
                <a:sym typeface="Roboto Mono"/>
              </a:rPr>
              <a:t>T(s·e)</a:t>
            </a:r>
            <a:r>
              <a:rPr lang="en-GB">
                <a:latin typeface="Arial"/>
                <a:ea typeface="Arial"/>
                <a:cs typeface="Arial"/>
                <a:sym typeface="Arial"/>
              </a:rPr>
              <a:t> is </a:t>
            </a:r>
            <a:r>
              <a:rPr lang="en-GB">
                <a:latin typeface="Roboto Mono"/>
                <a:ea typeface="Roboto Mono"/>
                <a:cs typeface="Roboto Mono"/>
                <a:sym typeface="Roboto Mono"/>
              </a:rPr>
              <a:t>1</a:t>
            </a:r>
            <a:r>
              <a:rPr lang="en-GB">
                <a:latin typeface="Arial"/>
                <a:ea typeface="Arial"/>
                <a:cs typeface="Arial"/>
                <a:sym typeface="Arial"/>
              </a:rPr>
              <a:t> if the string </a:t>
            </a:r>
            <a:r>
              <a:rPr lang="en-GB">
                <a:latin typeface="Roboto Mono"/>
                <a:ea typeface="Roboto Mono"/>
                <a:cs typeface="Roboto Mono"/>
                <a:sym typeface="Roboto Mono"/>
              </a:rPr>
              <a:t>se</a:t>
            </a:r>
            <a:r>
              <a:rPr lang="en-GB">
                <a:latin typeface="Arial"/>
                <a:ea typeface="Arial"/>
                <a:cs typeface="Arial"/>
                <a:sym typeface="Arial"/>
              </a:rPr>
              <a:t> is in the language, and </a:t>
            </a:r>
            <a:r>
              <a:rPr lang="en-GB">
                <a:latin typeface="Roboto Mono"/>
                <a:ea typeface="Roboto Mono"/>
                <a:cs typeface="Roboto Mono"/>
                <a:sym typeface="Roboto Mono"/>
              </a:rPr>
              <a:t>0</a:t>
            </a:r>
            <a:r>
              <a:rPr lang="en-GB">
                <a:latin typeface="Arial"/>
                <a:ea typeface="Arial"/>
                <a:cs typeface="Arial"/>
                <a:sym typeface="Arial"/>
              </a:rPr>
              <a:t> otherwis</a:t>
            </a:r>
            <a:r>
              <a:rPr lang="en-GB" sz="1100">
                <a:latin typeface="Arial"/>
                <a:ea typeface="Arial"/>
                <a:cs typeface="Arial"/>
                <a:sym typeface="Arial"/>
              </a:rPr>
              <a:t>e.</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5098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700"/>
              <a:t>The row(s) Fingerprint</a:t>
            </a:r>
            <a:endParaRPr sz="3400"/>
          </a:p>
        </p:txBody>
      </p:sp>
      <p:sp>
        <p:nvSpPr>
          <p:cNvPr id="103" name="Google Shape;103;p21"/>
          <p:cNvSpPr txBox="1"/>
          <p:nvPr>
            <p:ph idx="1" type="body"/>
          </p:nvPr>
        </p:nvSpPr>
        <p:spPr>
          <a:xfrm>
            <a:off x="311700" y="1217275"/>
            <a:ext cx="8520600" cy="34164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SzPts val="1300"/>
              <a:buFont typeface="Arial"/>
              <a:buChar char="●"/>
            </a:pPr>
            <a:r>
              <a:rPr lang="en-GB" sz="1300">
                <a:latin typeface="Arial"/>
                <a:ea typeface="Arial"/>
                <a:cs typeface="Arial"/>
                <a:sym typeface="Arial"/>
              </a:rPr>
              <a:t>The key concept is the</a:t>
            </a:r>
            <a:br>
              <a:rPr lang="en-GB" sz="1300">
                <a:latin typeface="Arial"/>
                <a:ea typeface="Arial"/>
                <a:cs typeface="Arial"/>
                <a:sym typeface="Arial"/>
              </a:rPr>
            </a:br>
            <a:r>
              <a:rPr lang="en-GB" sz="1300">
                <a:latin typeface="Arial"/>
                <a:ea typeface="Arial"/>
                <a:cs typeface="Arial"/>
                <a:sym typeface="Arial"/>
              </a:rPr>
              <a:t> </a:t>
            </a:r>
            <a:r>
              <a:rPr b="1" lang="en-GB" sz="1300">
                <a:latin typeface="Roboto Mono"/>
                <a:ea typeface="Roboto Mono"/>
                <a:cs typeface="Roboto Mono"/>
                <a:sym typeface="Roboto Mono"/>
              </a:rPr>
              <a:t>r</a:t>
            </a:r>
            <a:r>
              <a:rPr b="1" lang="en-GB" sz="1300">
                <a:latin typeface="Roboto Mono"/>
                <a:ea typeface="Roboto Mono"/>
                <a:cs typeface="Roboto Mono"/>
                <a:sym typeface="Roboto Mono"/>
              </a:rPr>
              <a:t>ow(s)</a:t>
            </a:r>
            <a:r>
              <a:rPr lang="en-GB" sz="1300">
                <a:latin typeface="Arial"/>
                <a:ea typeface="Arial"/>
                <a:cs typeface="Arial"/>
                <a:sym typeface="Arial"/>
              </a:rPr>
              <a:t>, which is the sequence of 0s and 1s for a prefix </a:t>
            </a:r>
            <a:r>
              <a:rPr lang="en-GB" sz="1300">
                <a:latin typeface="Roboto Mono"/>
                <a:ea typeface="Roboto Mono"/>
                <a:cs typeface="Roboto Mono"/>
                <a:sym typeface="Roboto Mono"/>
              </a:rPr>
              <a:t>s</a:t>
            </a:r>
            <a:r>
              <a:rPr lang="en-GB" sz="1300">
                <a:latin typeface="Arial"/>
                <a:ea typeface="Arial"/>
                <a:cs typeface="Arial"/>
                <a:sym typeface="Arial"/>
              </a:rPr>
              <a:t> across all experiments in </a:t>
            </a:r>
            <a:r>
              <a:rPr lang="en-GB" sz="1300">
                <a:latin typeface="Roboto Mono"/>
                <a:ea typeface="Roboto Mono"/>
                <a:cs typeface="Roboto Mono"/>
                <a:sym typeface="Roboto Mono"/>
              </a:rPr>
              <a:t>E</a:t>
            </a:r>
            <a:r>
              <a:rPr lang="en-GB" sz="1300">
                <a:latin typeface="Arial"/>
                <a:ea typeface="Arial"/>
                <a:cs typeface="Arial"/>
                <a:sym typeface="Arial"/>
              </a:rPr>
              <a:t>.</a:t>
            </a:r>
            <a:endParaRPr sz="1300">
              <a:latin typeface="Arial"/>
              <a:ea typeface="Arial"/>
              <a:cs typeface="Arial"/>
              <a:sym typeface="Arial"/>
            </a:endParaRPr>
          </a:p>
          <a:p>
            <a:pPr indent="-311150" lvl="0" marL="457200" rtl="0" algn="l">
              <a:spcBef>
                <a:spcPts val="1000"/>
              </a:spcBef>
              <a:spcAft>
                <a:spcPts val="0"/>
              </a:spcAft>
              <a:buSzPts val="1300"/>
              <a:buFont typeface="Arial"/>
              <a:buChar char="●"/>
            </a:pPr>
            <a:r>
              <a:rPr lang="en-GB" sz="1300">
                <a:latin typeface="Arial"/>
                <a:ea typeface="Arial"/>
                <a:cs typeface="Arial"/>
                <a:sym typeface="Arial"/>
              </a:rPr>
              <a:t>We can think of </a:t>
            </a:r>
            <a:r>
              <a:rPr lang="en-GB" sz="1300">
                <a:latin typeface="Roboto Mono"/>
                <a:ea typeface="Roboto Mono"/>
                <a:cs typeface="Roboto Mono"/>
                <a:sym typeface="Roboto Mono"/>
              </a:rPr>
              <a:t>row(s)</a:t>
            </a:r>
            <a:r>
              <a:rPr lang="en-GB" sz="1300">
                <a:latin typeface="Arial"/>
                <a:ea typeface="Arial"/>
                <a:cs typeface="Arial"/>
                <a:sym typeface="Arial"/>
              </a:rPr>
              <a:t> as the </a:t>
            </a:r>
            <a:r>
              <a:rPr b="1" lang="en-GB" sz="1300">
                <a:latin typeface="Arial"/>
                <a:ea typeface="Arial"/>
                <a:cs typeface="Arial"/>
                <a:sym typeface="Arial"/>
              </a:rPr>
              <a:t>"behavioral fingerprint"</a:t>
            </a:r>
            <a:r>
              <a:rPr lang="en-GB" sz="1300">
                <a:latin typeface="Arial"/>
                <a:ea typeface="Arial"/>
                <a:cs typeface="Arial"/>
                <a:sym typeface="Arial"/>
              </a:rPr>
              <a:t> of the state reached by </a:t>
            </a:r>
            <a:r>
              <a:rPr lang="en-GB" sz="1300">
                <a:latin typeface="Roboto Mono"/>
                <a:ea typeface="Roboto Mono"/>
                <a:cs typeface="Roboto Mono"/>
                <a:sym typeface="Roboto Mono"/>
              </a:rPr>
              <a:t>s</a:t>
            </a:r>
            <a:r>
              <a:rPr lang="en-GB" sz="1300">
                <a:latin typeface="Arial"/>
                <a:ea typeface="Arial"/>
                <a:cs typeface="Arial"/>
                <a:sym typeface="Arial"/>
              </a:rPr>
              <a:t>.</a:t>
            </a:r>
            <a:endParaRPr sz="1300">
              <a:latin typeface="Arial"/>
              <a:ea typeface="Arial"/>
              <a:cs typeface="Arial"/>
              <a:sym typeface="Arial"/>
            </a:endParaRPr>
          </a:p>
          <a:p>
            <a:pPr indent="-311150" lvl="0" marL="457200" rtl="0" algn="l">
              <a:spcBef>
                <a:spcPts val="1000"/>
              </a:spcBef>
              <a:spcAft>
                <a:spcPts val="0"/>
              </a:spcAft>
              <a:buSzPts val="1300"/>
              <a:buFont typeface="Arial"/>
              <a:buChar char="●"/>
            </a:pPr>
            <a:r>
              <a:rPr lang="en-GB" sz="1300">
                <a:latin typeface="Arial"/>
                <a:ea typeface="Arial"/>
                <a:cs typeface="Arial"/>
                <a:sym typeface="Arial"/>
              </a:rPr>
              <a:t>If two prefixes </a:t>
            </a:r>
            <a:r>
              <a:rPr lang="en-GB" sz="1300">
                <a:latin typeface="Roboto Mono"/>
                <a:ea typeface="Roboto Mono"/>
                <a:cs typeface="Roboto Mono"/>
                <a:sym typeface="Roboto Mono"/>
              </a:rPr>
              <a:t>s₁</a:t>
            </a:r>
            <a:r>
              <a:rPr lang="en-GB" sz="1300">
                <a:latin typeface="Arial"/>
                <a:ea typeface="Arial"/>
                <a:cs typeface="Arial"/>
                <a:sym typeface="Arial"/>
              </a:rPr>
              <a:t> and </a:t>
            </a:r>
            <a:r>
              <a:rPr lang="en-GB" sz="1300">
                <a:latin typeface="Roboto Mono"/>
                <a:ea typeface="Roboto Mono"/>
                <a:cs typeface="Roboto Mono"/>
                <a:sym typeface="Roboto Mono"/>
              </a:rPr>
              <a:t>s₂</a:t>
            </a:r>
            <a:r>
              <a:rPr lang="en-GB" sz="1300">
                <a:latin typeface="Arial"/>
                <a:ea typeface="Arial"/>
                <a:cs typeface="Arial"/>
                <a:sym typeface="Arial"/>
              </a:rPr>
              <a:t> have the same fingerprint (</a:t>
            </a:r>
            <a:r>
              <a:rPr lang="en-GB" sz="1300">
                <a:latin typeface="Roboto Mono"/>
                <a:ea typeface="Roboto Mono"/>
                <a:cs typeface="Roboto Mono"/>
                <a:sym typeface="Roboto Mono"/>
              </a:rPr>
              <a:t>row(s₁) = row(s₂)</a:t>
            </a:r>
            <a:r>
              <a:rPr lang="en-GB" sz="1300">
                <a:latin typeface="Arial"/>
                <a:ea typeface="Arial"/>
                <a:cs typeface="Arial"/>
                <a:sym typeface="Arial"/>
              </a:rPr>
              <a:t>), they are currently indistinguishable.</a:t>
            </a:r>
            <a:endParaRPr sz="1300">
              <a:latin typeface="Arial"/>
              <a:ea typeface="Arial"/>
              <a:cs typeface="Arial"/>
              <a:sym typeface="Arial"/>
            </a:endParaRPr>
          </a:p>
          <a:p>
            <a:pPr indent="-311150" lvl="0" marL="457200" rtl="0" algn="l">
              <a:spcBef>
                <a:spcPts val="1000"/>
              </a:spcBef>
              <a:spcAft>
                <a:spcPts val="0"/>
              </a:spcAft>
              <a:buSzPts val="1300"/>
              <a:buFont typeface="Arial"/>
              <a:buChar char="●"/>
            </a:pPr>
            <a:r>
              <a:rPr lang="en-GB" sz="1300">
                <a:latin typeface="Arial"/>
                <a:ea typeface="Arial"/>
                <a:cs typeface="Arial"/>
                <a:sym typeface="Arial"/>
              </a:rPr>
              <a:t>The table has two sections of rows:</a:t>
            </a:r>
            <a:endParaRPr sz="1300">
              <a:latin typeface="Arial"/>
              <a:ea typeface="Arial"/>
              <a:cs typeface="Arial"/>
              <a:sym typeface="Arial"/>
            </a:endParaRPr>
          </a:p>
          <a:p>
            <a:pPr indent="-311150" lvl="1" marL="914400" rtl="0" algn="l">
              <a:spcBef>
                <a:spcPts val="0"/>
              </a:spcBef>
              <a:spcAft>
                <a:spcPts val="0"/>
              </a:spcAft>
              <a:buSzPts val="1300"/>
              <a:buFont typeface="Arial"/>
              <a:buChar char="○"/>
            </a:pPr>
            <a:r>
              <a:rPr b="1" lang="en-GB" sz="1300">
                <a:latin typeface="Arial"/>
                <a:ea typeface="Arial"/>
                <a:cs typeface="Arial"/>
                <a:sym typeface="Arial"/>
              </a:rPr>
              <a:t>Upper Section</a:t>
            </a:r>
            <a:r>
              <a:rPr lang="en-GB" sz="1300">
                <a:latin typeface="Arial"/>
                <a:ea typeface="Arial"/>
                <a:cs typeface="Arial"/>
                <a:sym typeface="Arial"/>
              </a:rPr>
              <a:t>: Rows for prefixes in </a:t>
            </a:r>
            <a:r>
              <a:rPr lang="en-GB" sz="1300">
                <a:latin typeface="Roboto Mono"/>
                <a:ea typeface="Roboto Mono"/>
                <a:cs typeface="Roboto Mono"/>
                <a:sym typeface="Roboto Mono"/>
              </a:rPr>
              <a:t>S</a:t>
            </a:r>
            <a:r>
              <a:rPr lang="en-GB" sz="1300">
                <a:latin typeface="Arial"/>
                <a:ea typeface="Arial"/>
                <a:cs typeface="Arial"/>
                <a:sym typeface="Arial"/>
              </a:rPr>
              <a:t> (our current states).</a:t>
            </a:r>
            <a:endParaRPr sz="1300">
              <a:latin typeface="Arial"/>
              <a:ea typeface="Arial"/>
              <a:cs typeface="Arial"/>
              <a:sym typeface="Arial"/>
            </a:endParaRPr>
          </a:p>
          <a:p>
            <a:pPr indent="-311150" lvl="1" marL="914400" rtl="0" algn="l">
              <a:spcBef>
                <a:spcPts val="0"/>
              </a:spcBef>
              <a:spcAft>
                <a:spcPts val="0"/>
              </a:spcAft>
              <a:buSzPts val="1300"/>
              <a:buFont typeface="Arial"/>
              <a:buChar char="○"/>
            </a:pPr>
            <a:r>
              <a:rPr b="1" lang="en-GB" sz="1300">
                <a:latin typeface="Arial"/>
                <a:ea typeface="Arial"/>
                <a:cs typeface="Arial"/>
                <a:sym typeface="Arial"/>
              </a:rPr>
              <a:t>Lower Section</a:t>
            </a:r>
            <a:r>
              <a:rPr lang="en-GB" sz="1300">
                <a:latin typeface="Arial"/>
                <a:ea typeface="Arial"/>
                <a:cs typeface="Arial"/>
                <a:sym typeface="Arial"/>
              </a:rPr>
              <a:t>: Rows for one-letter extensions, </a:t>
            </a:r>
            <a:r>
              <a:rPr lang="en-GB" sz="1300">
                <a:latin typeface="Roboto Mono"/>
                <a:ea typeface="Roboto Mono"/>
                <a:cs typeface="Roboto Mono"/>
                <a:sym typeface="Roboto Mono"/>
              </a:rPr>
              <a:t>S·A</a:t>
            </a:r>
            <a:r>
              <a:rPr lang="en-GB" sz="1300">
                <a:latin typeface="Arial"/>
                <a:ea typeface="Arial"/>
                <a:cs typeface="Arial"/>
                <a:sym typeface="Arial"/>
              </a:rPr>
              <a:t> (used to build transitions).</a:t>
            </a:r>
            <a:endParaRPr sz="1300">
              <a:latin typeface="Arial"/>
              <a:ea typeface="Arial"/>
              <a:cs typeface="Arial"/>
              <a:sym typeface="Arial"/>
            </a:endParaRPr>
          </a:p>
          <a:p>
            <a:pPr indent="0" lvl="0" marL="914400" rtl="0" algn="l">
              <a:spcBef>
                <a:spcPts val="1200"/>
              </a:spcBef>
              <a:spcAft>
                <a:spcPts val="0"/>
              </a:spcAft>
              <a:buNone/>
            </a:pPr>
            <a:r>
              <a:rPr lang="en-GB" sz="1300">
                <a:latin typeface="Arial"/>
                <a:ea typeface="Arial"/>
                <a:cs typeface="Arial"/>
                <a:sym typeface="Arial"/>
              </a:rPr>
              <a:t>Where</a:t>
            </a:r>
            <a:r>
              <a:rPr lang="en-GB" sz="1300">
                <a:latin typeface="Arial"/>
                <a:ea typeface="Arial"/>
                <a:cs typeface="Arial"/>
                <a:sym typeface="Arial"/>
              </a:rPr>
              <a:t> A is the alphabet set like {0,1} or {a,b}</a:t>
            </a:r>
            <a:endParaRPr sz="1300">
              <a:latin typeface="Arial"/>
              <a:ea typeface="Arial"/>
              <a:cs typeface="Arial"/>
              <a:sym typeface="Arial"/>
            </a:endParaRPr>
          </a:p>
          <a:p>
            <a:pPr indent="0" lvl="0" marL="0" rtl="0" algn="l">
              <a:spcBef>
                <a:spcPts val="1200"/>
              </a:spcBef>
              <a:spcAft>
                <a:spcPts val="1200"/>
              </a:spcAft>
              <a:buNone/>
            </a:pPr>
            <a:r>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When is the Table "Stable"? Two Golden Rules</a:t>
            </a:r>
            <a:endParaRPr/>
          </a:p>
          <a:p>
            <a:pPr indent="0" lvl="0" marL="0" rtl="0" algn="l">
              <a:spcBef>
                <a:spcPts val="0"/>
              </a:spcBef>
              <a:spcAft>
                <a:spcPts val="0"/>
              </a:spcAft>
              <a:buNone/>
            </a:pPr>
            <a:r>
              <a:t/>
            </a:r>
            <a:endParaRPr/>
          </a:p>
        </p:txBody>
      </p:sp>
      <p:sp>
        <p:nvSpPr>
          <p:cNvPr id="109" name="Google Shape;109;p22"/>
          <p:cNvSpPr txBox="1"/>
          <p:nvPr>
            <p:ph idx="1" type="body"/>
          </p:nvPr>
        </p:nvSpPr>
        <p:spPr>
          <a:xfrm>
            <a:off x="311700" y="1404425"/>
            <a:ext cx="8520600" cy="3671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Clr>
                <a:schemeClr val="dk1"/>
              </a:buClr>
              <a:buSzPct val="84615"/>
              <a:buFont typeface="Arial"/>
              <a:buNone/>
            </a:pPr>
            <a:r>
              <a:rPr lang="en-GB" sz="1300">
                <a:latin typeface="Arial"/>
                <a:ea typeface="Arial"/>
                <a:cs typeface="Arial"/>
                <a:sym typeface="Arial"/>
              </a:rPr>
              <a:t>Before the Learner can build a DFA, the table must be </a:t>
            </a:r>
            <a:r>
              <a:rPr b="1" lang="en-GB" sz="1300">
                <a:latin typeface="Arial"/>
                <a:ea typeface="Arial"/>
                <a:cs typeface="Arial"/>
                <a:sym typeface="Arial"/>
              </a:rPr>
              <a:t>closed</a:t>
            </a:r>
            <a:r>
              <a:rPr lang="en-GB" sz="1300">
                <a:latin typeface="Arial"/>
                <a:ea typeface="Arial"/>
                <a:cs typeface="Arial"/>
                <a:sym typeface="Arial"/>
              </a:rPr>
              <a:t> and </a:t>
            </a:r>
            <a:r>
              <a:rPr b="1" lang="en-GB" sz="1300">
                <a:latin typeface="Arial"/>
                <a:ea typeface="Arial"/>
                <a:cs typeface="Arial"/>
                <a:sym typeface="Arial"/>
              </a:rPr>
              <a:t>consistent</a:t>
            </a:r>
            <a:r>
              <a:rPr lang="en-GB" sz="1300">
                <a:latin typeface="Arial"/>
                <a:ea typeface="Arial"/>
                <a:cs typeface="Arial"/>
                <a:sym typeface="Arial"/>
              </a:rPr>
              <a:t>.</a:t>
            </a:r>
            <a:endParaRPr sz="1300">
              <a:latin typeface="Arial"/>
              <a:ea typeface="Arial"/>
              <a:cs typeface="Arial"/>
              <a:sym typeface="Arial"/>
            </a:endParaRPr>
          </a:p>
          <a:p>
            <a:pPr indent="-298767" lvl="0" marL="457200" rtl="0" algn="l">
              <a:spcBef>
                <a:spcPts val="1200"/>
              </a:spcBef>
              <a:spcAft>
                <a:spcPts val="0"/>
              </a:spcAft>
              <a:buSzPct val="100000"/>
              <a:buFont typeface="Arial"/>
              <a:buChar char="●"/>
            </a:pPr>
            <a:r>
              <a:rPr b="1" lang="en-GB" sz="1300">
                <a:latin typeface="Arial"/>
                <a:ea typeface="Arial"/>
                <a:cs typeface="Arial"/>
                <a:sym typeface="Arial"/>
              </a:rPr>
              <a:t>Closed Table</a:t>
            </a:r>
            <a:endParaRPr b="1" sz="1300">
              <a:latin typeface="Arial"/>
              <a:ea typeface="Arial"/>
              <a:cs typeface="Arial"/>
              <a:sym typeface="Arial"/>
            </a:endParaRPr>
          </a:p>
          <a:p>
            <a:pPr indent="-298767" lvl="1" marL="914400" rtl="0" algn="l">
              <a:spcBef>
                <a:spcPts val="0"/>
              </a:spcBef>
              <a:spcAft>
                <a:spcPts val="0"/>
              </a:spcAft>
              <a:buSzPct val="100000"/>
              <a:buFont typeface="Arial"/>
              <a:buChar char="○"/>
            </a:pPr>
            <a:r>
              <a:rPr b="1" lang="en-GB" sz="1300">
                <a:latin typeface="Arial"/>
                <a:ea typeface="Arial"/>
                <a:cs typeface="Arial"/>
                <a:sym typeface="Arial"/>
              </a:rPr>
              <a:t>Question</a:t>
            </a:r>
            <a:r>
              <a:rPr lang="en-GB" sz="1300">
                <a:latin typeface="Arial"/>
                <a:ea typeface="Arial"/>
                <a:cs typeface="Arial"/>
                <a:sym typeface="Arial"/>
              </a:rPr>
              <a:t>: Does every behavior we can reach in one step (from rows in </a:t>
            </a:r>
            <a:r>
              <a:rPr lang="en-GB" sz="1300">
                <a:latin typeface="Roboto Mono"/>
                <a:ea typeface="Roboto Mono"/>
                <a:cs typeface="Roboto Mono"/>
                <a:sym typeface="Roboto Mono"/>
              </a:rPr>
              <a:t>S·A</a:t>
            </a:r>
            <a:r>
              <a:rPr lang="en-GB" sz="1300">
                <a:latin typeface="Arial"/>
                <a:ea typeface="Arial"/>
                <a:cs typeface="Arial"/>
                <a:sym typeface="Arial"/>
              </a:rPr>
              <a:t>) match a behavior we already know (from a row in </a:t>
            </a:r>
            <a:r>
              <a:rPr lang="en-GB" sz="1300">
                <a:latin typeface="Roboto Mono"/>
                <a:ea typeface="Roboto Mono"/>
                <a:cs typeface="Roboto Mono"/>
                <a:sym typeface="Roboto Mono"/>
              </a:rPr>
              <a:t>S</a:t>
            </a:r>
            <a:r>
              <a:rPr lang="en-GB" sz="1300">
                <a:latin typeface="Arial"/>
                <a:ea typeface="Arial"/>
                <a:cs typeface="Arial"/>
                <a:sym typeface="Arial"/>
              </a:rPr>
              <a:t>)?</a:t>
            </a:r>
            <a:endParaRPr sz="1300">
              <a:latin typeface="Arial"/>
              <a:ea typeface="Arial"/>
              <a:cs typeface="Arial"/>
              <a:sym typeface="Arial"/>
            </a:endParaRPr>
          </a:p>
          <a:p>
            <a:pPr indent="-298767" lvl="1" marL="914400" rtl="0" algn="l">
              <a:spcBef>
                <a:spcPts val="1000"/>
              </a:spcBef>
              <a:spcAft>
                <a:spcPts val="0"/>
              </a:spcAft>
              <a:buSzPct val="100000"/>
              <a:buFont typeface="Arial"/>
              <a:buChar char="○"/>
            </a:pPr>
            <a:r>
              <a:rPr b="1" lang="en-GB" sz="1300">
                <a:latin typeface="Arial"/>
                <a:ea typeface="Arial"/>
                <a:cs typeface="Arial"/>
                <a:sym typeface="Arial"/>
              </a:rPr>
              <a:t>Meaning</a:t>
            </a:r>
            <a:r>
              <a:rPr lang="en-GB" sz="1300">
                <a:latin typeface="Arial"/>
                <a:ea typeface="Arial"/>
                <a:cs typeface="Arial"/>
                <a:sym typeface="Arial"/>
              </a:rPr>
              <a:t>: We haven't discovered any brand-new, unclassified state behaviors.</a:t>
            </a:r>
            <a:endParaRPr sz="1300">
              <a:latin typeface="Arial"/>
              <a:ea typeface="Arial"/>
              <a:cs typeface="Arial"/>
              <a:sym typeface="Arial"/>
            </a:endParaRPr>
          </a:p>
          <a:p>
            <a:pPr indent="-298767" lvl="1" marL="914400" rtl="0" algn="l">
              <a:spcBef>
                <a:spcPts val="1000"/>
              </a:spcBef>
              <a:spcAft>
                <a:spcPts val="0"/>
              </a:spcAft>
              <a:buSzPct val="100000"/>
              <a:buFont typeface="Arial"/>
              <a:buChar char="○"/>
            </a:pPr>
            <a:r>
              <a:rPr lang="en-GB" sz="1300">
                <a:latin typeface="Arial"/>
                <a:ea typeface="Arial"/>
                <a:cs typeface="Arial"/>
                <a:sym typeface="Arial"/>
              </a:rPr>
              <a:t>For each </a:t>
            </a:r>
            <a:r>
              <a:rPr i="1" lang="en-GB" sz="1300">
                <a:latin typeface="Arial"/>
                <a:ea typeface="Arial"/>
                <a:cs typeface="Arial"/>
                <a:sym typeface="Arial"/>
              </a:rPr>
              <a:t>t</a:t>
            </a:r>
            <a:r>
              <a:rPr lang="en-GB" sz="1300">
                <a:latin typeface="Arial"/>
                <a:ea typeface="Arial"/>
                <a:cs typeface="Arial"/>
                <a:sym typeface="Arial"/>
              </a:rPr>
              <a:t> in S.A there exists an </a:t>
            </a:r>
            <a:r>
              <a:rPr i="1" lang="en-GB" sz="1300">
                <a:latin typeface="Arial"/>
                <a:ea typeface="Arial"/>
                <a:cs typeface="Arial"/>
                <a:sym typeface="Arial"/>
              </a:rPr>
              <a:t>s</a:t>
            </a:r>
            <a:r>
              <a:rPr lang="en-GB" sz="1300">
                <a:latin typeface="Arial"/>
                <a:ea typeface="Arial"/>
                <a:cs typeface="Arial"/>
                <a:sym typeface="Arial"/>
              </a:rPr>
              <a:t> in S s.t. row(</a:t>
            </a:r>
            <a:r>
              <a:rPr i="1" lang="en-GB" sz="1300">
                <a:latin typeface="Arial"/>
                <a:ea typeface="Arial"/>
                <a:cs typeface="Arial"/>
                <a:sym typeface="Arial"/>
              </a:rPr>
              <a:t>t</a:t>
            </a:r>
            <a:r>
              <a:rPr lang="en-GB" sz="1300">
                <a:latin typeface="Arial"/>
                <a:ea typeface="Arial"/>
                <a:cs typeface="Arial"/>
                <a:sym typeface="Arial"/>
              </a:rPr>
              <a:t>)=row(</a:t>
            </a:r>
            <a:r>
              <a:rPr i="1" lang="en-GB" sz="1300">
                <a:latin typeface="Arial"/>
                <a:ea typeface="Arial"/>
                <a:cs typeface="Arial"/>
                <a:sym typeface="Arial"/>
              </a:rPr>
              <a:t>s</a:t>
            </a:r>
            <a:r>
              <a:rPr lang="en-GB" sz="1300">
                <a:latin typeface="Arial"/>
                <a:ea typeface="Arial"/>
                <a:cs typeface="Arial"/>
                <a:sym typeface="Arial"/>
              </a:rPr>
              <a:t>). </a:t>
            </a:r>
            <a:endParaRPr sz="1300">
              <a:latin typeface="Arial"/>
              <a:ea typeface="Arial"/>
              <a:cs typeface="Arial"/>
              <a:sym typeface="Arial"/>
            </a:endParaRPr>
          </a:p>
          <a:p>
            <a:pPr indent="0" lvl="0" marL="0" rtl="0" algn="l">
              <a:spcBef>
                <a:spcPts val="1200"/>
              </a:spcBef>
              <a:spcAft>
                <a:spcPts val="0"/>
              </a:spcAft>
              <a:buNone/>
            </a:pPr>
            <a:r>
              <a:t/>
            </a:r>
            <a:endParaRPr sz="1300">
              <a:latin typeface="Arial"/>
              <a:ea typeface="Arial"/>
              <a:cs typeface="Arial"/>
              <a:sym typeface="Arial"/>
            </a:endParaRPr>
          </a:p>
          <a:p>
            <a:pPr indent="-298767" lvl="0" marL="457200" rtl="0" algn="l">
              <a:spcBef>
                <a:spcPts val="1200"/>
              </a:spcBef>
              <a:spcAft>
                <a:spcPts val="0"/>
              </a:spcAft>
              <a:buSzPct val="100000"/>
              <a:buFont typeface="Arial"/>
              <a:buChar char="●"/>
            </a:pPr>
            <a:r>
              <a:rPr b="1" lang="en-GB" sz="1300">
                <a:latin typeface="Arial"/>
                <a:ea typeface="Arial"/>
                <a:cs typeface="Arial"/>
                <a:sym typeface="Arial"/>
              </a:rPr>
              <a:t>Consistent Table</a:t>
            </a:r>
            <a:endParaRPr b="1" sz="1300">
              <a:latin typeface="Arial"/>
              <a:ea typeface="Arial"/>
              <a:cs typeface="Arial"/>
              <a:sym typeface="Arial"/>
            </a:endParaRPr>
          </a:p>
          <a:p>
            <a:pPr indent="-298767" lvl="1" marL="914400" rtl="0" algn="l">
              <a:spcBef>
                <a:spcPts val="0"/>
              </a:spcBef>
              <a:spcAft>
                <a:spcPts val="0"/>
              </a:spcAft>
              <a:buSzPct val="100000"/>
              <a:buFont typeface="Arial"/>
              <a:buChar char="○"/>
            </a:pPr>
            <a:r>
              <a:rPr b="1" lang="en-GB" sz="1300">
                <a:latin typeface="Arial"/>
                <a:ea typeface="Arial"/>
                <a:cs typeface="Arial"/>
                <a:sym typeface="Arial"/>
              </a:rPr>
              <a:t>Question</a:t>
            </a:r>
            <a:r>
              <a:rPr lang="en-GB" sz="1300">
                <a:latin typeface="Arial"/>
                <a:ea typeface="Arial"/>
                <a:cs typeface="Arial"/>
                <a:sym typeface="Arial"/>
              </a:rPr>
              <a:t>: If two prefixes </a:t>
            </a:r>
            <a:r>
              <a:rPr lang="en-GB" sz="1300">
                <a:latin typeface="Roboto Mono"/>
                <a:ea typeface="Roboto Mono"/>
                <a:cs typeface="Roboto Mono"/>
                <a:sym typeface="Roboto Mono"/>
              </a:rPr>
              <a:t>s₁</a:t>
            </a:r>
            <a:r>
              <a:rPr lang="en-GB" sz="1300">
                <a:latin typeface="Arial"/>
                <a:ea typeface="Arial"/>
                <a:cs typeface="Arial"/>
                <a:sym typeface="Arial"/>
              </a:rPr>
              <a:t> and </a:t>
            </a:r>
            <a:r>
              <a:rPr lang="en-GB" sz="1300">
                <a:latin typeface="Roboto Mono"/>
                <a:ea typeface="Roboto Mono"/>
                <a:cs typeface="Roboto Mono"/>
                <a:sym typeface="Roboto Mono"/>
              </a:rPr>
              <a:t>s₂</a:t>
            </a:r>
            <a:r>
              <a:rPr lang="en-GB" sz="1300">
                <a:latin typeface="Arial"/>
                <a:ea typeface="Arial"/>
                <a:cs typeface="Arial"/>
                <a:sym typeface="Arial"/>
              </a:rPr>
              <a:t> seem to be the same state (</a:t>
            </a:r>
            <a:r>
              <a:rPr lang="en-GB" sz="1300">
                <a:latin typeface="Roboto Mono"/>
                <a:ea typeface="Roboto Mono"/>
                <a:cs typeface="Roboto Mono"/>
                <a:sym typeface="Roboto Mono"/>
              </a:rPr>
              <a:t>row(s₁) = row(s₂)</a:t>
            </a:r>
            <a:r>
              <a:rPr lang="en-GB" sz="1300">
                <a:latin typeface="Arial"/>
                <a:ea typeface="Arial"/>
                <a:cs typeface="Arial"/>
                <a:sym typeface="Arial"/>
              </a:rPr>
              <a:t>), do they behave identically after any next character </a:t>
            </a:r>
            <a:r>
              <a:rPr lang="en-GB" sz="1300">
                <a:latin typeface="Roboto Mono"/>
                <a:ea typeface="Roboto Mono"/>
                <a:cs typeface="Roboto Mono"/>
                <a:sym typeface="Roboto Mono"/>
              </a:rPr>
              <a:t>a</a:t>
            </a:r>
            <a:r>
              <a:rPr lang="en-GB" sz="1300">
                <a:latin typeface="Arial"/>
                <a:ea typeface="Arial"/>
                <a:cs typeface="Arial"/>
                <a:sym typeface="Arial"/>
              </a:rPr>
              <a:t>?</a:t>
            </a:r>
            <a:endParaRPr sz="1300">
              <a:latin typeface="Arial"/>
              <a:ea typeface="Arial"/>
              <a:cs typeface="Arial"/>
              <a:sym typeface="Arial"/>
            </a:endParaRPr>
          </a:p>
          <a:p>
            <a:pPr indent="-298767" lvl="1" marL="914400" rtl="0" algn="l">
              <a:spcBef>
                <a:spcPts val="1000"/>
              </a:spcBef>
              <a:spcAft>
                <a:spcPts val="0"/>
              </a:spcAft>
              <a:buSzPct val="100000"/>
              <a:buFont typeface="Arial"/>
              <a:buChar char="○"/>
            </a:pPr>
            <a:r>
              <a:rPr b="1" lang="en-GB" sz="1300">
                <a:latin typeface="Arial"/>
                <a:ea typeface="Arial"/>
                <a:cs typeface="Arial"/>
                <a:sym typeface="Arial"/>
              </a:rPr>
              <a:t>Meaning</a:t>
            </a:r>
            <a:r>
              <a:rPr lang="en-GB" sz="1300">
                <a:latin typeface="Arial"/>
                <a:ea typeface="Arial"/>
                <a:cs typeface="Arial"/>
                <a:sym typeface="Arial"/>
              </a:rPr>
              <a:t>: Our "fingerprints" are reliable. If two states look the same, they truly are the same for all one-step transitions.</a:t>
            </a:r>
            <a:endParaRPr sz="1300">
              <a:latin typeface="Arial"/>
              <a:ea typeface="Arial"/>
              <a:cs typeface="Arial"/>
              <a:sym typeface="Arial"/>
            </a:endParaRPr>
          </a:p>
          <a:p>
            <a:pPr indent="-298767" lvl="1" marL="914400" rtl="0" algn="l">
              <a:spcBef>
                <a:spcPts val="1000"/>
              </a:spcBef>
              <a:spcAft>
                <a:spcPts val="0"/>
              </a:spcAft>
              <a:buSzPct val="100000"/>
              <a:buFont typeface="Arial"/>
              <a:buChar char="○"/>
            </a:pPr>
            <a:r>
              <a:rPr lang="en-GB" sz="1300">
                <a:latin typeface="Arial"/>
                <a:ea typeface="Arial"/>
                <a:cs typeface="Arial"/>
                <a:sym typeface="Arial"/>
              </a:rPr>
              <a:t>If row(s1) = row(s2) then for a in A, row(s1.a)=row(s2.a)</a:t>
            </a:r>
            <a:endParaRPr sz="1300">
              <a:latin typeface="Arial"/>
              <a:ea typeface="Arial"/>
              <a:cs typeface="Arial"/>
              <a:sym typeface="Arial"/>
            </a:endParaRPr>
          </a:p>
          <a:p>
            <a:pPr indent="0" lvl="0" marL="0" rtl="0" algn="l">
              <a:spcBef>
                <a:spcPts val="1200"/>
              </a:spcBef>
              <a:spcAft>
                <a:spcPts val="1200"/>
              </a:spcAft>
              <a:buNone/>
            </a:pPr>
            <a:r>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Building the DFA from a Stable Table</a:t>
            </a:r>
            <a:endParaRPr/>
          </a:p>
        </p:txBody>
      </p:sp>
      <p:sp>
        <p:nvSpPr>
          <p:cNvPr id="115" name="Google Shape;115;p23"/>
          <p:cNvSpPr txBox="1"/>
          <p:nvPr>
            <p:ph idx="1" type="body"/>
          </p:nvPr>
        </p:nvSpPr>
        <p:spPr>
          <a:xfrm>
            <a:off x="311700" y="1152475"/>
            <a:ext cx="8520600" cy="2152500"/>
          </a:xfrm>
          <a:prstGeom prst="rect">
            <a:avLst/>
          </a:prstGeom>
        </p:spPr>
        <p:txBody>
          <a:bodyPr anchorCtr="0" anchor="t" bIns="91425" lIns="91425" spcFirstLastPara="1" rIns="91425" wrap="square" tIns="91425">
            <a:normAutofit lnSpcReduction="10000"/>
          </a:bodyPr>
          <a:lstStyle/>
          <a:p>
            <a:pPr indent="-311150" lvl="0" marL="457200" rtl="0" algn="l">
              <a:spcBef>
                <a:spcPts val="1200"/>
              </a:spcBef>
              <a:spcAft>
                <a:spcPts val="0"/>
              </a:spcAft>
              <a:buSzPts val="1300"/>
              <a:buFont typeface="Arial"/>
              <a:buChar char="●"/>
            </a:pPr>
            <a:r>
              <a:rPr lang="en-GB" sz="1300">
                <a:latin typeface="Arial"/>
                <a:ea typeface="Arial"/>
                <a:cs typeface="Arial"/>
                <a:sym typeface="Arial"/>
              </a:rPr>
              <a:t>Once the table is closed and consistent, the Learner can build a hypothesis DFA,</a:t>
            </a:r>
            <a:br>
              <a:rPr lang="en-GB" sz="1300">
                <a:latin typeface="Arial"/>
                <a:ea typeface="Arial"/>
                <a:cs typeface="Arial"/>
                <a:sym typeface="Arial"/>
              </a:rPr>
            </a:br>
            <a:r>
              <a:rPr lang="en-GB" sz="1300">
                <a:latin typeface="Arial"/>
                <a:ea typeface="Arial"/>
                <a:cs typeface="Arial"/>
                <a:sym typeface="Arial"/>
              </a:rPr>
              <a:t> </a:t>
            </a:r>
            <a:r>
              <a:rPr lang="en-GB" sz="1300">
                <a:latin typeface="Roboto Mono"/>
                <a:ea typeface="Roboto Mono"/>
                <a:cs typeface="Roboto Mono"/>
                <a:sym typeface="Roboto Mono"/>
              </a:rPr>
              <a:t>M(S,E,T)</a:t>
            </a:r>
            <a:r>
              <a:rPr lang="en-GB" sz="1300">
                <a:latin typeface="Arial"/>
                <a:ea typeface="Arial"/>
                <a:cs typeface="Arial"/>
                <a:sym typeface="Arial"/>
              </a:rPr>
              <a:t>.</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GB" sz="1300">
                <a:latin typeface="Arial"/>
                <a:ea typeface="Arial"/>
                <a:cs typeface="Arial"/>
                <a:sym typeface="Arial"/>
              </a:rPr>
              <a:t>States </a:t>
            </a:r>
            <a:r>
              <a:rPr b="1" lang="en-GB" sz="1300">
                <a:latin typeface="Roboto Mono"/>
                <a:ea typeface="Roboto Mono"/>
                <a:cs typeface="Roboto Mono"/>
                <a:sym typeface="Roboto Mono"/>
              </a:rPr>
              <a:t>Q</a:t>
            </a:r>
            <a:r>
              <a:rPr lang="en-GB" sz="1300">
                <a:latin typeface="Arial"/>
                <a:ea typeface="Arial"/>
                <a:cs typeface="Arial"/>
                <a:sym typeface="Arial"/>
              </a:rPr>
              <a:t>: The set of unique "fingerprints" (</a:t>
            </a:r>
            <a:r>
              <a:rPr lang="en-GB" sz="1300">
                <a:latin typeface="Roboto Mono"/>
                <a:ea typeface="Roboto Mono"/>
                <a:cs typeface="Roboto Mono"/>
                <a:sym typeface="Roboto Mono"/>
              </a:rPr>
              <a:t>row(s)</a:t>
            </a:r>
            <a:r>
              <a:rPr lang="en-GB" sz="1300">
                <a:latin typeface="Arial"/>
                <a:ea typeface="Arial"/>
                <a:cs typeface="Arial"/>
                <a:sym typeface="Arial"/>
              </a:rPr>
              <a:t>) from the set </a:t>
            </a:r>
            <a:r>
              <a:rPr lang="en-GB" sz="1300">
                <a:latin typeface="Roboto Mono"/>
                <a:ea typeface="Roboto Mono"/>
                <a:cs typeface="Roboto Mono"/>
                <a:sym typeface="Roboto Mono"/>
              </a:rPr>
              <a:t>S</a:t>
            </a:r>
            <a:r>
              <a:rPr lang="en-GB" sz="1300">
                <a:latin typeface="Arial"/>
                <a:ea typeface="Arial"/>
                <a:cs typeface="Arial"/>
                <a:sym typeface="Arial"/>
              </a:rPr>
              <a:t>.</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GB" sz="1300">
                <a:latin typeface="Arial"/>
                <a:ea typeface="Arial"/>
                <a:cs typeface="Arial"/>
                <a:sym typeface="Arial"/>
              </a:rPr>
              <a:t>Initial State </a:t>
            </a:r>
            <a:r>
              <a:rPr b="1" lang="en-GB" sz="1300">
                <a:latin typeface="Roboto Mono"/>
                <a:ea typeface="Roboto Mono"/>
                <a:cs typeface="Roboto Mono"/>
                <a:sym typeface="Roboto Mono"/>
              </a:rPr>
              <a:t>q₀</a:t>
            </a:r>
            <a:r>
              <a:rPr lang="en-GB" sz="1300">
                <a:latin typeface="Arial"/>
                <a:ea typeface="Arial"/>
                <a:cs typeface="Arial"/>
                <a:sym typeface="Arial"/>
              </a:rPr>
              <a:t>: The fingerprint of the empty string, </a:t>
            </a:r>
            <a:r>
              <a:rPr lang="en-GB" sz="1300">
                <a:latin typeface="Roboto Mono"/>
                <a:ea typeface="Roboto Mono"/>
                <a:cs typeface="Roboto Mono"/>
                <a:sym typeface="Roboto Mono"/>
              </a:rPr>
              <a:t>row(ε)</a:t>
            </a:r>
            <a:r>
              <a:rPr lang="en-GB" sz="1300">
                <a:latin typeface="Arial"/>
                <a:ea typeface="Arial"/>
                <a:cs typeface="Arial"/>
                <a:sym typeface="Arial"/>
              </a:rPr>
              <a:t>.</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GB" sz="1300">
                <a:latin typeface="Arial"/>
                <a:ea typeface="Arial"/>
                <a:cs typeface="Arial"/>
                <a:sym typeface="Arial"/>
              </a:rPr>
              <a:t>Final States </a:t>
            </a:r>
            <a:r>
              <a:rPr b="1" lang="en-GB" sz="1300">
                <a:latin typeface="Roboto Mono"/>
                <a:ea typeface="Roboto Mono"/>
                <a:cs typeface="Roboto Mono"/>
                <a:sym typeface="Roboto Mono"/>
              </a:rPr>
              <a:t>F</a:t>
            </a:r>
            <a:r>
              <a:rPr lang="en-GB" sz="1300">
                <a:latin typeface="Arial"/>
                <a:ea typeface="Arial"/>
                <a:cs typeface="Arial"/>
                <a:sym typeface="Arial"/>
              </a:rPr>
              <a:t>: Any state </a:t>
            </a:r>
            <a:r>
              <a:rPr lang="en-GB" sz="1300">
                <a:latin typeface="Roboto Mono"/>
                <a:ea typeface="Roboto Mono"/>
                <a:cs typeface="Roboto Mono"/>
                <a:sym typeface="Roboto Mono"/>
              </a:rPr>
              <a:t>row(s)</a:t>
            </a:r>
            <a:r>
              <a:rPr lang="en-GB" sz="1300">
                <a:latin typeface="Arial"/>
                <a:ea typeface="Arial"/>
                <a:cs typeface="Arial"/>
                <a:sym typeface="Arial"/>
              </a:rPr>
              <a:t> where </a:t>
            </a:r>
            <a:r>
              <a:rPr lang="en-GB" sz="1300">
                <a:latin typeface="Roboto Mono"/>
                <a:ea typeface="Roboto Mono"/>
                <a:cs typeface="Roboto Mono"/>
                <a:sym typeface="Roboto Mono"/>
              </a:rPr>
              <a:t>T(s)</a:t>
            </a:r>
            <a:r>
              <a:rPr lang="en-GB" sz="1300">
                <a:latin typeface="Arial"/>
                <a:ea typeface="Arial"/>
                <a:cs typeface="Arial"/>
                <a:sym typeface="Arial"/>
              </a:rPr>
              <a:t> is 1 (i.e., the prefix itself is an accepting string).</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GB" sz="1300">
                <a:latin typeface="Arial"/>
                <a:ea typeface="Arial"/>
                <a:cs typeface="Arial"/>
                <a:sym typeface="Arial"/>
              </a:rPr>
              <a:t>Transitions </a:t>
            </a:r>
            <a:r>
              <a:rPr b="1" lang="en-GB" sz="1300">
                <a:latin typeface="Roboto Mono"/>
                <a:ea typeface="Roboto Mono"/>
                <a:cs typeface="Roboto Mono"/>
                <a:sym typeface="Roboto Mono"/>
              </a:rPr>
              <a:t>δ</a:t>
            </a:r>
            <a:r>
              <a:rPr lang="en-GB" sz="1300">
                <a:latin typeface="Arial"/>
                <a:ea typeface="Arial"/>
                <a:cs typeface="Arial"/>
                <a:sym typeface="Arial"/>
              </a:rPr>
              <a:t>: The transition from a state </a:t>
            </a:r>
            <a:r>
              <a:rPr lang="en-GB" sz="1300">
                <a:latin typeface="Roboto Mono"/>
                <a:ea typeface="Roboto Mono"/>
                <a:cs typeface="Roboto Mono"/>
                <a:sym typeface="Roboto Mono"/>
              </a:rPr>
              <a:t>row(s)</a:t>
            </a:r>
            <a:r>
              <a:rPr lang="en-GB" sz="1300">
                <a:latin typeface="Arial"/>
                <a:ea typeface="Arial"/>
                <a:cs typeface="Arial"/>
                <a:sym typeface="Arial"/>
              </a:rPr>
              <a:t> on a character </a:t>
            </a:r>
            <a:r>
              <a:rPr lang="en-GB" sz="1300">
                <a:latin typeface="Roboto Mono"/>
                <a:ea typeface="Roboto Mono"/>
                <a:cs typeface="Roboto Mono"/>
                <a:sym typeface="Roboto Mono"/>
              </a:rPr>
              <a:t>a</a:t>
            </a:r>
            <a:r>
              <a:rPr lang="en-GB" sz="1300">
                <a:latin typeface="Arial"/>
                <a:ea typeface="Arial"/>
                <a:cs typeface="Arial"/>
                <a:sym typeface="Arial"/>
              </a:rPr>
              <a:t> is the state represented by the fingerprint </a:t>
            </a:r>
            <a:r>
              <a:rPr lang="en-GB" sz="1300">
                <a:latin typeface="Roboto Mono"/>
                <a:ea typeface="Roboto Mono"/>
                <a:cs typeface="Roboto Mono"/>
                <a:sym typeface="Roboto Mono"/>
              </a:rPr>
              <a:t>row(s·a)</a:t>
            </a:r>
            <a:r>
              <a:rPr lang="en-GB" sz="1300">
                <a:latin typeface="Arial"/>
                <a:ea typeface="Arial"/>
                <a:cs typeface="Arial"/>
                <a:sym typeface="Arial"/>
              </a:rPr>
              <a:t>.</a:t>
            </a:r>
            <a:endParaRPr sz="1300">
              <a:latin typeface="Arial"/>
              <a:ea typeface="Arial"/>
              <a:cs typeface="Arial"/>
              <a:sym typeface="Arial"/>
            </a:endParaRPr>
          </a:p>
          <a:p>
            <a:pPr indent="0" lvl="0" marL="0" rtl="0" algn="l">
              <a:spcBef>
                <a:spcPts val="1200"/>
              </a:spcBef>
              <a:spcAft>
                <a:spcPts val="1200"/>
              </a:spcAft>
              <a:buNone/>
            </a:pPr>
            <a:r>
              <a:t/>
            </a:r>
            <a:endParaRPr sz="2000"/>
          </a:p>
        </p:txBody>
      </p:sp>
      <p:pic>
        <p:nvPicPr>
          <p:cNvPr id="116" name="Google Shape;116;p23"/>
          <p:cNvPicPr preferRelativeResize="0"/>
          <p:nvPr/>
        </p:nvPicPr>
        <p:blipFill>
          <a:blip r:embed="rId3">
            <a:alphaModFix/>
          </a:blip>
          <a:stretch>
            <a:fillRect/>
          </a:stretch>
        </p:blipFill>
        <p:spPr>
          <a:xfrm>
            <a:off x="2104300" y="2823700"/>
            <a:ext cx="4644242" cy="2095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592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Table to Automaton</a:t>
            </a:r>
            <a:endParaRPr/>
          </a:p>
        </p:txBody>
      </p:sp>
      <p:sp>
        <p:nvSpPr>
          <p:cNvPr id="122" name="Google Shape;122;p24"/>
          <p:cNvSpPr txBox="1"/>
          <p:nvPr>
            <p:ph idx="1" type="body"/>
          </p:nvPr>
        </p:nvSpPr>
        <p:spPr>
          <a:xfrm>
            <a:off x="311700" y="15439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SzPts val="1500"/>
              <a:buFont typeface="Arial"/>
              <a:buChar char="●"/>
            </a:pPr>
            <a:r>
              <a:rPr lang="en-GB" sz="1500">
                <a:latin typeface="Arial"/>
                <a:ea typeface="Arial"/>
                <a:cs typeface="Arial"/>
                <a:sym typeface="Arial"/>
              </a:rPr>
              <a:t>The paper first confirms that the process of building a DFA from a </a:t>
            </a:r>
            <a:r>
              <a:rPr b="1" lang="en-GB" sz="1500">
                <a:latin typeface="Arial"/>
                <a:ea typeface="Arial"/>
                <a:cs typeface="Arial"/>
                <a:sym typeface="Arial"/>
              </a:rPr>
              <a:t>closed and consistent</a:t>
            </a:r>
            <a:r>
              <a:rPr lang="en-GB" sz="1500">
                <a:latin typeface="Arial"/>
                <a:ea typeface="Arial"/>
                <a:cs typeface="Arial"/>
                <a:sym typeface="Arial"/>
              </a:rPr>
              <a:t> table is mathematically sound.</a:t>
            </a:r>
            <a:endParaRPr sz="1500">
              <a:latin typeface="Arial"/>
              <a:ea typeface="Arial"/>
              <a:cs typeface="Arial"/>
              <a:sym typeface="Arial"/>
            </a:endParaRPr>
          </a:p>
          <a:p>
            <a:pPr indent="-323850" lvl="0" marL="457200" rtl="0" algn="l">
              <a:spcBef>
                <a:spcPts val="1000"/>
              </a:spcBef>
              <a:spcAft>
                <a:spcPts val="0"/>
              </a:spcAft>
              <a:buSzPts val="1500"/>
              <a:buFont typeface="Arial"/>
              <a:buChar char="●"/>
            </a:pPr>
            <a:r>
              <a:rPr b="1" lang="en-GB" sz="1500">
                <a:latin typeface="Arial"/>
                <a:ea typeface="Arial"/>
                <a:cs typeface="Arial"/>
                <a:sym typeface="Arial"/>
              </a:rPr>
              <a:t>Consistency is Key for Transitions:</a:t>
            </a:r>
            <a:r>
              <a:rPr lang="en-GB" sz="1500">
                <a:latin typeface="Arial"/>
                <a:ea typeface="Arial"/>
                <a:cs typeface="Arial"/>
                <a:sym typeface="Arial"/>
              </a:rPr>
              <a:t> The </a:t>
            </a:r>
            <a:r>
              <a:rPr lang="en-GB" sz="1500">
                <a:latin typeface="Roboto Mono"/>
                <a:ea typeface="Roboto Mono"/>
                <a:cs typeface="Roboto Mono"/>
                <a:sym typeface="Roboto Mono"/>
              </a:rPr>
              <a:t>consistent</a:t>
            </a:r>
            <a:r>
              <a:rPr lang="en-GB" sz="1500">
                <a:latin typeface="Arial"/>
                <a:ea typeface="Arial"/>
                <a:cs typeface="Arial"/>
                <a:sym typeface="Arial"/>
              </a:rPr>
              <a:t> property guarantees that if two prefixes </a:t>
            </a:r>
            <a:r>
              <a:rPr lang="en-GB" sz="1500">
                <a:latin typeface="Roboto Mono"/>
                <a:ea typeface="Roboto Mono"/>
                <a:cs typeface="Roboto Mono"/>
                <a:sym typeface="Roboto Mono"/>
              </a:rPr>
              <a:t>s₁</a:t>
            </a:r>
            <a:r>
              <a:rPr lang="en-GB" sz="1500">
                <a:latin typeface="Arial"/>
                <a:ea typeface="Arial"/>
                <a:cs typeface="Arial"/>
                <a:sym typeface="Arial"/>
              </a:rPr>
              <a:t> and </a:t>
            </a:r>
            <a:r>
              <a:rPr lang="en-GB" sz="1500">
                <a:latin typeface="Roboto Mono"/>
                <a:ea typeface="Roboto Mono"/>
                <a:cs typeface="Roboto Mono"/>
                <a:sym typeface="Roboto Mono"/>
              </a:rPr>
              <a:t>s₂</a:t>
            </a:r>
            <a:r>
              <a:rPr lang="en-GB" sz="1500">
                <a:latin typeface="Arial"/>
                <a:ea typeface="Arial"/>
                <a:cs typeface="Arial"/>
                <a:sym typeface="Arial"/>
              </a:rPr>
              <a:t> represent the same state (</a:t>
            </a:r>
            <a:r>
              <a:rPr lang="en-GB" sz="1500">
                <a:latin typeface="Roboto Mono"/>
                <a:ea typeface="Roboto Mono"/>
                <a:cs typeface="Roboto Mono"/>
                <a:sym typeface="Roboto Mono"/>
              </a:rPr>
              <a:t>row(s₁) = row(s₂)</a:t>
            </a:r>
            <a:r>
              <a:rPr lang="en-GB" sz="1500">
                <a:latin typeface="Arial"/>
                <a:ea typeface="Arial"/>
                <a:cs typeface="Arial"/>
                <a:sym typeface="Arial"/>
              </a:rPr>
              <a:t>), their transitions on any character </a:t>
            </a:r>
            <a:r>
              <a:rPr lang="en-GB" sz="1500">
                <a:latin typeface="Roboto Mono"/>
                <a:ea typeface="Roboto Mono"/>
                <a:cs typeface="Roboto Mono"/>
                <a:sym typeface="Roboto Mono"/>
              </a:rPr>
              <a:t>a</a:t>
            </a:r>
            <a:r>
              <a:rPr lang="en-GB" sz="1500">
                <a:latin typeface="Arial"/>
                <a:ea typeface="Arial"/>
                <a:cs typeface="Arial"/>
                <a:sym typeface="Arial"/>
              </a:rPr>
              <a:t> will also lead to the same state (</a:t>
            </a:r>
            <a:r>
              <a:rPr lang="en-GB" sz="1500">
                <a:latin typeface="Roboto Mono"/>
                <a:ea typeface="Roboto Mono"/>
                <a:cs typeface="Roboto Mono"/>
                <a:sym typeface="Roboto Mono"/>
              </a:rPr>
              <a:t>row(s₁·a) = row(s₂·a)</a:t>
            </a:r>
            <a:r>
              <a:rPr lang="en-GB" sz="1500">
                <a:latin typeface="Arial"/>
                <a:ea typeface="Arial"/>
                <a:cs typeface="Arial"/>
                <a:sym typeface="Arial"/>
              </a:rPr>
              <a:t>). This ensures the transition function </a:t>
            </a:r>
            <a:r>
              <a:rPr lang="en-GB" sz="1500">
                <a:latin typeface="Roboto Mono"/>
                <a:ea typeface="Roboto Mono"/>
                <a:cs typeface="Roboto Mono"/>
                <a:sym typeface="Roboto Mono"/>
              </a:rPr>
              <a:t>δ</a:t>
            </a:r>
            <a:r>
              <a:rPr lang="en-GB" sz="1500">
                <a:latin typeface="Arial"/>
                <a:ea typeface="Arial"/>
                <a:cs typeface="Arial"/>
                <a:sym typeface="Arial"/>
              </a:rPr>
              <a:t> is well-defined.</a:t>
            </a:r>
            <a:endParaRPr sz="1500">
              <a:latin typeface="Arial"/>
              <a:ea typeface="Arial"/>
              <a:cs typeface="Arial"/>
              <a:sym typeface="Arial"/>
            </a:endParaRPr>
          </a:p>
          <a:p>
            <a:pPr indent="-323850" lvl="0" marL="457200" rtl="0" algn="l">
              <a:spcBef>
                <a:spcPts val="1000"/>
              </a:spcBef>
              <a:spcAft>
                <a:spcPts val="0"/>
              </a:spcAft>
              <a:buSzPts val="1500"/>
              <a:buFont typeface="Arial"/>
              <a:buChar char="●"/>
            </a:pPr>
            <a:r>
              <a:rPr b="1" lang="en-GB" sz="1500">
                <a:latin typeface="Arial"/>
                <a:ea typeface="Arial"/>
                <a:cs typeface="Arial"/>
                <a:sym typeface="Arial"/>
              </a:rPr>
              <a:t>Closedness is Key for States:</a:t>
            </a:r>
            <a:r>
              <a:rPr lang="en-GB" sz="1500">
                <a:latin typeface="Arial"/>
                <a:ea typeface="Arial"/>
                <a:cs typeface="Arial"/>
                <a:sym typeface="Arial"/>
              </a:rPr>
              <a:t> The </a:t>
            </a:r>
            <a:r>
              <a:rPr lang="en-GB" sz="1500">
                <a:latin typeface="Roboto Mono"/>
                <a:ea typeface="Roboto Mono"/>
                <a:cs typeface="Roboto Mono"/>
                <a:sym typeface="Roboto Mono"/>
              </a:rPr>
              <a:t>closed</a:t>
            </a:r>
            <a:r>
              <a:rPr lang="en-GB" sz="1500">
                <a:latin typeface="Arial"/>
                <a:ea typeface="Arial"/>
                <a:cs typeface="Arial"/>
                <a:sym typeface="Arial"/>
              </a:rPr>
              <a:t> property guarantees that for any state </a:t>
            </a:r>
            <a:r>
              <a:rPr lang="en-GB" sz="1500">
                <a:latin typeface="Roboto Mono"/>
                <a:ea typeface="Roboto Mono"/>
                <a:cs typeface="Roboto Mono"/>
                <a:sym typeface="Roboto Mono"/>
              </a:rPr>
              <a:t>row(s)</a:t>
            </a:r>
            <a:r>
              <a:rPr lang="en-GB" sz="1500">
                <a:latin typeface="Arial"/>
                <a:ea typeface="Arial"/>
                <a:cs typeface="Arial"/>
                <a:sym typeface="Arial"/>
              </a:rPr>
              <a:t> and character </a:t>
            </a:r>
            <a:r>
              <a:rPr lang="en-GB" sz="1500">
                <a:latin typeface="Roboto Mono"/>
                <a:ea typeface="Roboto Mono"/>
                <a:cs typeface="Roboto Mono"/>
                <a:sym typeface="Roboto Mono"/>
              </a:rPr>
              <a:t>a</a:t>
            </a:r>
            <a:r>
              <a:rPr lang="en-GB" sz="1500">
                <a:latin typeface="Arial"/>
                <a:ea typeface="Arial"/>
                <a:cs typeface="Arial"/>
                <a:sym typeface="Arial"/>
              </a:rPr>
              <a:t>, the resulting fingerprint </a:t>
            </a:r>
            <a:r>
              <a:rPr lang="en-GB" sz="1500">
                <a:latin typeface="Roboto Mono"/>
                <a:ea typeface="Roboto Mono"/>
                <a:cs typeface="Roboto Mono"/>
                <a:sym typeface="Roboto Mono"/>
              </a:rPr>
              <a:t>row(s·a)</a:t>
            </a:r>
            <a:r>
              <a:rPr lang="en-GB" sz="1500">
                <a:latin typeface="Arial"/>
                <a:ea typeface="Arial"/>
                <a:cs typeface="Arial"/>
                <a:sym typeface="Arial"/>
              </a:rPr>
              <a:t> is already represented by a known state in our state set </a:t>
            </a:r>
            <a:r>
              <a:rPr lang="en-GB" sz="1500">
                <a:latin typeface="Roboto Mono"/>
                <a:ea typeface="Roboto Mono"/>
                <a:cs typeface="Roboto Mono"/>
                <a:sym typeface="Roboto Mono"/>
              </a:rPr>
              <a:t>Q</a:t>
            </a:r>
            <a:r>
              <a:rPr lang="en-GB" sz="1500">
                <a:latin typeface="Arial"/>
                <a:ea typeface="Arial"/>
                <a:cs typeface="Arial"/>
                <a:sym typeface="Arial"/>
              </a:rPr>
              <a:t>. The automaton never transitions to an unknown state.</a:t>
            </a:r>
            <a:endParaRPr sz="1500">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90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Theorem 1</a:t>
            </a:r>
            <a:endParaRPr/>
          </a:p>
        </p:txBody>
      </p:sp>
      <p:sp>
        <p:nvSpPr>
          <p:cNvPr id="128" name="Google Shape;128;p25"/>
          <p:cNvSpPr txBox="1"/>
          <p:nvPr>
            <p:ph idx="1" type="body"/>
          </p:nvPr>
        </p:nvSpPr>
        <p:spPr>
          <a:xfrm>
            <a:off x="311700" y="532050"/>
            <a:ext cx="8520600" cy="16320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018"/>
              <a:buFont typeface="Arial"/>
              <a:buNone/>
            </a:pPr>
            <a:r>
              <a:rPr lang="en-GB" sz="1217">
                <a:latin typeface="Arial"/>
                <a:ea typeface="Arial"/>
                <a:cs typeface="Arial"/>
                <a:sym typeface="Arial"/>
              </a:rPr>
              <a:t>This theorem is the most important result on this page. It makes two powerful claims about the DFA, </a:t>
            </a:r>
            <a:r>
              <a:rPr lang="en-GB" sz="1217">
                <a:latin typeface="Roboto Mono"/>
                <a:ea typeface="Roboto Mono"/>
                <a:cs typeface="Roboto Mono"/>
                <a:sym typeface="Roboto Mono"/>
              </a:rPr>
              <a:t>M(S, E, T)</a:t>
            </a:r>
            <a:r>
              <a:rPr lang="en-GB" sz="1217">
                <a:latin typeface="Arial"/>
                <a:ea typeface="Arial"/>
                <a:cs typeface="Arial"/>
                <a:sym typeface="Arial"/>
              </a:rPr>
              <a:t>, that we build from a stable table:</a:t>
            </a:r>
            <a:endParaRPr sz="1217">
              <a:latin typeface="Arial"/>
              <a:ea typeface="Arial"/>
              <a:cs typeface="Arial"/>
              <a:sym typeface="Arial"/>
            </a:endParaRPr>
          </a:p>
          <a:p>
            <a:pPr indent="-305911" lvl="0" marL="457200" rtl="0" algn="l">
              <a:lnSpc>
                <a:spcPct val="95000"/>
              </a:lnSpc>
              <a:spcBef>
                <a:spcPts val="1200"/>
              </a:spcBef>
              <a:spcAft>
                <a:spcPts val="0"/>
              </a:spcAft>
              <a:buSzPts val="1218"/>
              <a:buFont typeface="Arial"/>
              <a:buAutoNum type="arabicPeriod"/>
            </a:pPr>
            <a:r>
              <a:rPr b="1" lang="en-GB" sz="1217">
                <a:latin typeface="Arial"/>
                <a:ea typeface="Arial"/>
                <a:cs typeface="Arial"/>
                <a:sym typeface="Arial"/>
              </a:rPr>
              <a:t>It's Correct on Known Data:</a:t>
            </a:r>
            <a:r>
              <a:rPr lang="en-GB" sz="1217">
                <a:latin typeface="Arial"/>
                <a:ea typeface="Arial"/>
                <a:cs typeface="Arial"/>
                <a:sym typeface="Arial"/>
              </a:rPr>
              <a:t> The automaton is </a:t>
            </a:r>
            <a:r>
              <a:rPr b="1" lang="en-GB" sz="1217">
                <a:latin typeface="Arial"/>
                <a:ea typeface="Arial"/>
                <a:cs typeface="Arial"/>
                <a:sym typeface="Arial"/>
              </a:rPr>
              <a:t>consistent with the finite function T</a:t>
            </a:r>
            <a:r>
              <a:rPr lang="en-GB" sz="1217">
                <a:latin typeface="Arial"/>
                <a:ea typeface="Arial"/>
                <a:cs typeface="Arial"/>
                <a:sym typeface="Arial"/>
              </a:rPr>
              <a:t>. This means the DFA will correctly accept or reject every string that the Learner has already asked about and stored in its table.</a:t>
            </a:r>
            <a:endParaRPr sz="1217">
              <a:latin typeface="Arial"/>
              <a:ea typeface="Arial"/>
              <a:cs typeface="Arial"/>
              <a:sym typeface="Arial"/>
            </a:endParaRPr>
          </a:p>
          <a:p>
            <a:pPr indent="-305911" lvl="0" marL="457200" rtl="0" algn="l">
              <a:lnSpc>
                <a:spcPct val="95000"/>
              </a:lnSpc>
              <a:spcBef>
                <a:spcPts val="0"/>
              </a:spcBef>
              <a:spcAft>
                <a:spcPts val="0"/>
              </a:spcAft>
              <a:buSzPts val="1218"/>
              <a:buFont typeface="Arial"/>
              <a:buAutoNum type="arabicPeriod"/>
            </a:pPr>
            <a:r>
              <a:rPr b="1" lang="en-GB" sz="1217">
                <a:latin typeface="Arial"/>
                <a:ea typeface="Arial"/>
                <a:cs typeface="Arial"/>
                <a:sym typeface="Arial"/>
              </a:rPr>
              <a:t>It's the Smallest Possible Model:</a:t>
            </a:r>
            <a:r>
              <a:rPr lang="en-GB" sz="1217">
                <a:latin typeface="Arial"/>
                <a:ea typeface="Arial"/>
                <a:cs typeface="Arial"/>
                <a:sym typeface="Arial"/>
              </a:rPr>
              <a:t> Any other DFA that is </a:t>
            </a:r>
            <a:r>
              <a:rPr i="1" lang="en-GB" sz="1217">
                <a:latin typeface="Arial"/>
                <a:ea typeface="Arial"/>
                <a:cs typeface="Arial"/>
                <a:sym typeface="Arial"/>
              </a:rPr>
              <a:t>also</a:t>
            </a:r>
            <a:r>
              <a:rPr lang="en-GB" sz="1217">
                <a:latin typeface="Arial"/>
                <a:ea typeface="Arial"/>
                <a:cs typeface="Arial"/>
                <a:sym typeface="Arial"/>
              </a:rPr>
              <a:t> consistent with the table </a:t>
            </a:r>
            <a:r>
              <a:rPr lang="en-GB" sz="1217">
                <a:latin typeface="Roboto Mono"/>
                <a:ea typeface="Roboto Mono"/>
                <a:cs typeface="Roboto Mono"/>
                <a:sym typeface="Roboto Mono"/>
              </a:rPr>
              <a:t>T</a:t>
            </a:r>
            <a:r>
              <a:rPr lang="en-GB" sz="1217">
                <a:latin typeface="Arial"/>
                <a:ea typeface="Arial"/>
                <a:cs typeface="Arial"/>
                <a:sym typeface="Arial"/>
              </a:rPr>
              <a:t> but is different from our </a:t>
            </a:r>
            <a:r>
              <a:rPr lang="en-GB" sz="1217">
                <a:latin typeface="Roboto Mono"/>
                <a:ea typeface="Roboto Mono"/>
                <a:cs typeface="Roboto Mono"/>
                <a:sym typeface="Roboto Mono"/>
              </a:rPr>
              <a:t>M</a:t>
            </a:r>
            <a:r>
              <a:rPr lang="en-GB" sz="1217">
                <a:latin typeface="Arial"/>
                <a:ea typeface="Arial"/>
                <a:cs typeface="Arial"/>
                <a:sym typeface="Arial"/>
              </a:rPr>
              <a:t> </a:t>
            </a:r>
            <a:r>
              <a:rPr b="1" lang="en-GB" sz="1217">
                <a:latin typeface="Arial"/>
                <a:ea typeface="Arial"/>
                <a:cs typeface="Arial"/>
                <a:sym typeface="Arial"/>
              </a:rPr>
              <a:t>must have more states</a:t>
            </a:r>
            <a:r>
              <a:rPr lang="en-GB" sz="1217">
                <a:latin typeface="Arial"/>
                <a:ea typeface="Arial"/>
                <a:cs typeface="Arial"/>
                <a:sym typeface="Arial"/>
              </a:rPr>
              <a:t>. This proves that the L* algorithm constructs the unique, minimal DFA that can explain all the observations made so far.</a:t>
            </a:r>
            <a:endParaRPr sz="1217">
              <a:latin typeface="Arial"/>
              <a:ea typeface="Arial"/>
              <a:cs typeface="Arial"/>
              <a:sym typeface="Arial"/>
            </a:endParaRPr>
          </a:p>
          <a:p>
            <a:pPr indent="0" lvl="0" marL="0" rtl="0" algn="l">
              <a:lnSpc>
                <a:spcPct val="95000"/>
              </a:lnSpc>
              <a:spcBef>
                <a:spcPts val="1200"/>
              </a:spcBef>
              <a:spcAft>
                <a:spcPts val="1200"/>
              </a:spcAft>
              <a:buSzPts val="1018"/>
              <a:buNone/>
            </a:pPr>
            <a:r>
              <a:t/>
            </a:r>
            <a:endParaRPr sz="1865"/>
          </a:p>
        </p:txBody>
      </p:sp>
      <p:sp>
        <p:nvSpPr>
          <p:cNvPr id="129" name="Google Shape;129;p25"/>
          <p:cNvSpPr txBox="1"/>
          <p:nvPr/>
        </p:nvSpPr>
        <p:spPr>
          <a:xfrm>
            <a:off x="311700" y="2040275"/>
            <a:ext cx="5347500" cy="6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The Proof's First Step - Lemma 2</a:t>
            </a:r>
            <a:endParaRPr sz="1800">
              <a:solidFill>
                <a:schemeClr val="dk1"/>
              </a:solidFill>
            </a:endParaRPr>
          </a:p>
        </p:txBody>
      </p:sp>
      <p:sp>
        <p:nvSpPr>
          <p:cNvPr id="130" name="Google Shape;130;p25"/>
          <p:cNvSpPr txBox="1"/>
          <p:nvPr/>
        </p:nvSpPr>
        <p:spPr>
          <a:xfrm>
            <a:off x="537600" y="2422650"/>
            <a:ext cx="8294700" cy="18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 paper proves Theorem 1 using a series of smaller, supporting lemmas.</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Lemma 2</a:t>
            </a:r>
            <a:r>
              <a:rPr lang="en-GB">
                <a:solidFill>
                  <a:schemeClr val="dk1"/>
                </a:solidFill>
              </a:rPr>
              <a:t> : establishes the fundamental connection between a string (a path) and a state (a fingerprint) in the constructed automaton </a:t>
            </a:r>
            <a:r>
              <a:rPr lang="en-GB">
                <a:solidFill>
                  <a:schemeClr val="dk1"/>
                </a:solidFill>
                <a:latin typeface="Roboto Mono"/>
                <a:ea typeface="Roboto Mono"/>
                <a:cs typeface="Roboto Mono"/>
                <a:sym typeface="Roboto Mono"/>
              </a:rPr>
              <a:t>M</a:t>
            </a:r>
            <a:r>
              <a:rPr lang="en-GB">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What it says:</a:t>
            </a:r>
            <a:r>
              <a:rPr lang="en-GB">
                <a:solidFill>
                  <a:schemeClr val="dk1"/>
                </a:solidFill>
              </a:rPr>
              <a:t> "For any prefix </a:t>
            </a:r>
            <a:r>
              <a:rPr lang="en-GB">
                <a:solidFill>
                  <a:schemeClr val="dk1"/>
                </a:solidFill>
                <a:latin typeface="Roboto Mono"/>
                <a:ea typeface="Roboto Mono"/>
                <a:cs typeface="Roboto Mono"/>
                <a:sym typeface="Roboto Mono"/>
              </a:rPr>
              <a:t>s</a:t>
            </a:r>
            <a:r>
              <a:rPr lang="en-GB">
                <a:solidFill>
                  <a:schemeClr val="dk1"/>
                </a:solidFill>
              </a:rPr>
              <a:t> (from </a:t>
            </a:r>
            <a:r>
              <a:rPr lang="en-GB">
                <a:solidFill>
                  <a:schemeClr val="dk1"/>
                </a:solidFill>
                <a:latin typeface="Roboto Mono"/>
                <a:ea typeface="Roboto Mono"/>
                <a:cs typeface="Roboto Mono"/>
                <a:sym typeface="Roboto Mono"/>
              </a:rPr>
              <a:t>S</a:t>
            </a:r>
            <a:r>
              <a:rPr lang="en-GB">
                <a:solidFill>
                  <a:schemeClr val="dk1"/>
                </a:solidFill>
              </a:rPr>
              <a:t> or </a:t>
            </a:r>
            <a:r>
              <a:rPr lang="en-GB">
                <a:solidFill>
                  <a:schemeClr val="dk1"/>
                </a:solidFill>
                <a:latin typeface="Roboto Mono"/>
                <a:ea typeface="Roboto Mono"/>
                <a:cs typeface="Roboto Mono"/>
                <a:sym typeface="Roboto Mono"/>
              </a:rPr>
              <a:t>S·A</a:t>
            </a:r>
            <a:r>
              <a:rPr lang="en-GB">
                <a:solidFill>
                  <a:schemeClr val="dk1"/>
                </a:solidFill>
              </a:rPr>
              <a:t>), if you trace the path for </a:t>
            </a:r>
            <a:r>
              <a:rPr lang="en-GB">
                <a:solidFill>
                  <a:schemeClr val="dk1"/>
                </a:solidFill>
                <a:latin typeface="Roboto Mono"/>
                <a:ea typeface="Roboto Mono"/>
                <a:cs typeface="Roboto Mono"/>
                <a:sym typeface="Roboto Mono"/>
              </a:rPr>
              <a:t>s</a:t>
            </a:r>
            <a:r>
              <a:rPr lang="en-GB">
                <a:solidFill>
                  <a:schemeClr val="dk1"/>
                </a:solidFill>
              </a:rPr>
              <a:t> from the initial state of the DFA, you are guaranteed to end up in the state represented by the fingerprint </a:t>
            </a:r>
            <a:r>
              <a:rPr lang="en-GB">
                <a:solidFill>
                  <a:schemeClr val="dk1"/>
                </a:solidFill>
                <a:latin typeface="Roboto Mono"/>
                <a:ea typeface="Roboto Mono"/>
                <a:cs typeface="Roboto Mono"/>
                <a:sym typeface="Roboto Mono"/>
              </a:rPr>
              <a:t>row(s)</a:t>
            </a:r>
            <a:r>
              <a:rPr lang="en-GB">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How it's proven:</a:t>
            </a:r>
            <a:r>
              <a:rPr lang="en-GB">
                <a:solidFill>
                  <a:schemeClr val="dk1"/>
                </a:solidFill>
              </a:rPr>
              <a:t> Using a straightforward induction on the length of the string </a:t>
            </a:r>
            <a:r>
              <a:rPr lang="en-GB">
                <a:solidFill>
                  <a:schemeClr val="dk1"/>
                </a:solidFill>
                <a:latin typeface="Roboto Mono"/>
                <a:ea typeface="Roboto Mono"/>
                <a:cs typeface="Roboto Mono"/>
                <a:sym typeface="Roboto Mono"/>
              </a:rPr>
              <a:t>s</a:t>
            </a:r>
            <a:r>
              <a:rPr lang="en-GB">
                <a:solidFill>
                  <a:schemeClr val="dk1"/>
                </a:solidFill>
              </a:rPr>
              <a:t>.</a:t>
            </a:r>
            <a:endParaRPr>
              <a:solidFill>
                <a:schemeClr val="dk1"/>
              </a:solidFill>
            </a:endParaRPr>
          </a:p>
          <a:p>
            <a:pPr indent="0" lvl="0" marL="0" rtl="0" algn="l">
              <a:spcBef>
                <a:spcPts val="0"/>
              </a:spcBef>
              <a:spcAft>
                <a:spcPts val="0"/>
              </a:spcAft>
              <a:buNone/>
            </a:pPr>
            <a:r>
              <a:t/>
            </a:r>
            <a:endParaRPr sz="2100">
              <a:solidFill>
                <a:schemeClr val="dk1"/>
              </a:solidFill>
              <a:latin typeface="Merriweather"/>
              <a:ea typeface="Merriweather"/>
              <a:cs typeface="Merriweather"/>
              <a:sym typeface="Merriweather"/>
            </a:endParaRPr>
          </a:p>
        </p:txBody>
      </p:sp>
      <p:pic>
        <p:nvPicPr>
          <p:cNvPr id="131" name="Google Shape;131;p25"/>
          <p:cNvPicPr preferRelativeResize="0"/>
          <p:nvPr/>
        </p:nvPicPr>
        <p:blipFill rotWithShape="1">
          <a:blip r:embed="rId3">
            <a:alphaModFix/>
          </a:blip>
          <a:srcRect b="11580" l="0" r="0" t="-11580"/>
          <a:stretch/>
        </p:blipFill>
        <p:spPr>
          <a:xfrm>
            <a:off x="1970788" y="3641725"/>
            <a:ext cx="5202418" cy="15017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6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Proof's Second Step (Lemma 3)</a:t>
            </a:r>
            <a:endParaRPr/>
          </a:p>
        </p:txBody>
      </p:sp>
      <p:sp>
        <p:nvSpPr>
          <p:cNvPr id="137" name="Google Shape;137;p26"/>
          <p:cNvSpPr txBox="1"/>
          <p:nvPr>
            <p:ph idx="1" type="body"/>
          </p:nvPr>
        </p:nvSpPr>
        <p:spPr>
          <a:xfrm>
            <a:off x="311700" y="633650"/>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SzPts val="1100"/>
              <a:buFont typeface="Arial"/>
              <a:buChar char="●"/>
            </a:pPr>
            <a:r>
              <a:rPr b="1" lang="en-GB" sz="1100">
                <a:latin typeface="Arial"/>
                <a:ea typeface="Arial"/>
                <a:cs typeface="Arial"/>
                <a:sym typeface="Arial"/>
              </a:rPr>
              <a:t>Goal</a:t>
            </a:r>
            <a:r>
              <a:rPr lang="en-GB" sz="1100">
                <a:latin typeface="Arial"/>
                <a:ea typeface="Arial"/>
                <a:cs typeface="Arial"/>
                <a:sym typeface="Arial"/>
              </a:rPr>
              <a:t>: To prove that the constructed DFA </a:t>
            </a:r>
            <a:r>
              <a:rPr lang="en-GB" sz="1100">
                <a:latin typeface="Roboto Mono"/>
                <a:ea typeface="Roboto Mono"/>
                <a:cs typeface="Roboto Mono"/>
                <a:sym typeface="Roboto Mono"/>
              </a:rPr>
              <a:t>M</a:t>
            </a:r>
            <a:r>
              <a:rPr lang="en-GB" sz="1100">
                <a:latin typeface="Arial"/>
                <a:ea typeface="Arial"/>
                <a:cs typeface="Arial"/>
                <a:sym typeface="Arial"/>
              </a:rPr>
              <a:t> is fully </a:t>
            </a:r>
            <a:r>
              <a:rPr b="1" lang="en-GB" sz="1100">
                <a:latin typeface="Arial"/>
                <a:ea typeface="Arial"/>
                <a:cs typeface="Arial"/>
                <a:sym typeface="Arial"/>
              </a:rPr>
              <a:t>consistent with the entire observation table </a:t>
            </a:r>
            <a:r>
              <a:rPr b="1" lang="en-GB" sz="1100">
                <a:latin typeface="Roboto Mono"/>
                <a:ea typeface="Roboto Mono"/>
                <a:cs typeface="Roboto Mono"/>
                <a:sym typeface="Roboto Mono"/>
              </a:rPr>
              <a:t>T</a:t>
            </a:r>
            <a:r>
              <a:rPr lang="en-GB" sz="1100">
                <a:latin typeface="Arial"/>
                <a:ea typeface="Arial"/>
                <a:cs typeface="Arial"/>
                <a:sym typeface="Arial"/>
              </a:rPr>
              <a:t>.</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The Claim</a:t>
            </a:r>
            <a:r>
              <a:rPr lang="en-GB" sz="1100">
                <a:latin typeface="Arial"/>
                <a:ea typeface="Arial"/>
                <a:cs typeface="Arial"/>
                <a:sym typeface="Arial"/>
              </a:rPr>
              <a:t>:</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For </a:t>
            </a:r>
            <a:r>
              <a:rPr i="1" lang="en-GB" sz="1100">
                <a:latin typeface="Arial"/>
                <a:ea typeface="Arial"/>
                <a:cs typeface="Arial"/>
                <a:sym typeface="Arial"/>
              </a:rPr>
              <a:t>every</a:t>
            </a:r>
            <a:r>
              <a:rPr lang="en-GB" sz="1100">
                <a:latin typeface="Arial"/>
                <a:ea typeface="Arial"/>
                <a:cs typeface="Arial"/>
                <a:sym typeface="Arial"/>
              </a:rPr>
              <a:t> prefix </a:t>
            </a:r>
            <a:r>
              <a:rPr lang="en-GB" sz="1100">
                <a:latin typeface="Roboto Mono"/>
                <a:ea typeface="Roboto Mono"/>
                <a:cs typeface="Roboto Mono"/>
                <a:sym typeface="Roboto Mono"/>
              </a:rPr>
              <a:t>s</a:t>
            </a:r>
            <a:r>
              <a:rPr lang="en-GB" sz="1100">
                <a:latin typeface="Arial"/>
                <a:ea typeface="Arial"/>
                <a:cs typeface="Arial"/>
                <a:sym typeface="Arial"/>
              </a:rPr>
              <a:t> in </a:t>
            </a:r>
            <a:r>
              <a:rPr lang="en-GB" sz="1100">
                <a:latin typeface="Roboto Mono"/>
                <a:ea typeface="Roboto Mono"/>
                <a:cs typeface="Roboto Mono"/>
                <a:sym typeface="Roboto Mono"/>
              </a:rPr>
              <a:t>(S ∪ S·A)</a:t>
            </a:r>
            <a:r>
              <a:rPr lang="en-GB" sz="1100">
                <a:latin typeface="Arial"/>
                <a:ea typeface="Arial"/>
                <a:cs typeface="Arial"/>
                <a:sym typeface="Arial"/>
              </a:rPr>
              <a:t> and </a:t>
            </a:r>
            <a:r>
              <a:rPr i="1" lang="en-GB" sz="1100">
                <a:latin typeface="Arial"/>
                <a:ea typeface="Arial"/>
                <a:cs typeface="Arial"/>
                <a:sym typeface="Arial"/>
              </a:rPr>
              <a:t>every</a:t>
            </a:r>
            <a:r>
              <a:rPr lang="en-GB" sz="1100">
                <a:latin typeface="Arial"/>
                <a:ea typeface="Arial"/>
                <a:cs typeface="Arial"/>
                <a:sym typeface="Arial"/>
              </a:rPr>
              <a:t> experiment </a:t>
            </a:r>
            <a:r>
              <a:rPr lang="en-GB" sz="1100">
                <a:latin typeface="Roboto Mono"/>
                <a:ea typeface="Roboto Mono"/>
                <a:cs typeface="Roboto Mono"/>
                <a:sym typeface="Roboto Mono"/>
              </a:rPr>
              <a:t>e</a:t>
            </a:r>
            <a:r>
              <a:rPr lang="en-GB" sz="1100">
                <a:latin typeface="Arial"/>
                <a:ea typeface="Arial"/>
                <a:cs typeface="Arial"/>
                <a:sym typeface="Arial"/>
              </a:rPr>
              <a:t> in </a:t>
            </a:r>
            <a:r>
              <a:rPr lang="en-GB" sz="1100">
                <a:latin typeface="Roboto Mono"/>
                <a:ea typeface="Roboto Mono"/>
                <a:cs typeface="Roboto Mono"/>
                <a:sym typeface="Roboto Mono"/>
              </a:rPr>
              <a:t>E</a:t>
            </a:r>
            <a:r>
              <a:rPr lang="en-GB" sz="1100">
                <a:latin typeface="Arial"/>
                <a:ea typeface="Arial"/>
                <a:cs typeface="Arial"/>
                <a:sym typeface="Arial"/>
              </a:rPr>
              <a:t>:</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The DFA </a:t>
            </a:r>
            <a:r>
              <a:rPr lang="en-GB" sz="1100">
                <a:latin typeface="Roboto Mono"/>
                <a:ea typeface="Roboto Mono"/>
                <a:cs typeface="Roboto Mono"/>
                <a:sym typeface="Roboto Mono"/>
              </a:rPr>
              <a:t>M</a:t>
            </a:r>
            <a:r>
              <a:rPr lang="en-GB" sz="1100">
                <a:latin typeface="Arial"/>
                <a:ea typeface="Arial"/>
                <a:cs typeface="Arial"/>
                <a:sym typeface="Arial"/>
              </a:rPr>
              <a:t> will accept the string </a:t>
            </a:r>
            <a:r>
              <a:rPr lang="en-GB" sz="1100">
                <a:latin typeface="Roboto Mono"/>
                <a:ea typeface="Roboto Mono"/>
                <a:cs typeface="Roboto Mono"/>
                <a:sym typeface="Roboto Mono"/>
              </a:rPr>
              <a:t>s·e</a:t>
            </a:r>
            <a:r>
              <a:rPr lang="en-GB" sz="1100">
                <a:latin typeface="Arial"/>
                <a:ea typeface="Arial"/>
                <a:cs typeface="Arial"/>
                <a:sym typeface="Arial"/>
              </a:rPr>
              <a:t> if and only if the table entry </a:t>
            </a:r>
            <a:r>
              <a:rPr lang="en-GB" sz="1100">
                <a:latin typeface="Roboto Mono"/>
                <a:ea typeface="Roboto Mono"/>
                <a:cs typeface="Roboto Mono"/>
                <a:sym typeface="Roboto Mono"/>
              </a:rPr>
              <a:t>T(s·e)</a:t>
            </a:r>
            <a:r>
              <a:rPr lang="en-GB" sz="1100">
                <a:latin typeface="Arial"/>
                <a:ea typeface="Arial"/>
                <a:cs typeface="Arial"/>
                <a:sym typeface="Arial"/>
              </a:rPr>
              <a:t> is 1.</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In Simple Terms</a:t>
            </a:r>
            <a:r>
              <a:rPr lang="en-GB" sz="1100">
                <a:latin typeface="Arial"/>
                <a:ea typeface="Arial"/>
                <a:cs typeface="Arial"/>
                <a:sym typeface="Arial"/>
              </a:rPr>
              <a:t>:</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This lemma confirms that our DFA doesn't just get the state prefixes right; it correctly handles </a:t>
            </a:r>
            <a:r>
              <a:rPr b="1" lang="en-GB" sz="1100">
                <a:latin typeface="Arial"/>
                <a:ea typeface="Arial"/>
                <a:cs typeface="Arial"/>
                <a:sym typeface="Arial"/>
              </a:rPr>
              <a:t>all combinations of prefixes and experiments</a:t>
            </a:r>
            <a:r>
              <a:rPr lang="en-GB" sz="1100">
                <a:latin typeface="Arial"/>
                <a:ea typeface="Arial"/>
                <a:cs typeface="Arial"/>
                <a:sym typeface="Arial"/>
              </a:rPr>
              <a:t> that we have information for.</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It proves that the model perfectly matches all of our observations.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How It's Proven</a:t>
            </a:r>
            <a:r>
              <a:rPr lang="en-GB" sz="1100">
                <a:latin typeface="Arial"/>
                <a:ea typeface="Arial"/>
                <a:cs typeface="Arial"/>
                <a:sym typeface="Arial"/>
              </a:rPr>
              <a:t>:</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The paper proves this using </a:t>
            </a:r>
            <a:r>
              <a:rPr b="1" lang="en-GB" sz="1100">
                <a:latin typeface="Arial"/>
                <a:ea typeface="Arial"/>
                <a:cs typeface="Arial"/>
                <a:sym typeface="Arial"/>
              </a:rPr>
              <a:t>induction on the length of the experiment string </a:t>
            </a:r>
            <a:r>
              <a:rPr b="1" lang="en-GB" sz="1100">
                <a:latin typeface="Roboto Mono"/>
                <a:ea typeface="Roboto Mono"/>
                <a:cs typeface="Roboto Mono"/>
                <a:sym typeface="Roboto Mono"/>
              </a:rPr>
              <a:t>e</a:t>
            </a:r>
            <a:r>
              <a:rPr lang="en-GB" sz="1100">
                <a:latin typeface="Arial"/>
                <a:ea typeface="Arial"/>
                <a:cs typeface="Arial"/>
                <a:sym typeface="Arial"/>
              </a:rPr>
              <a:t>.</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b="1" lang="en-GB" sz="1100">
                <a:latin typeface="Arial"/>
                <a:ea typeface="Arial"/>
                <a:cs typeface="Arial"/>
                <a:sym typeface="Arial"/>
              </a:rPr>
              <a:t>Base Case (</a:t>
            </a:r>
            <a:r>
              <a:rPr b="1" lang="en-GB" sz="1100">
                <a:latin typeface="Roboto Mono"/>
                <a:ea typeface="Roboto Mono"/>
                <a:cs typeface="Roboto Mono"/>
                <a:sym typeface="Roboto Mono"/>
              </a:rPr>
              <a:t>e = ε</a:t>
            </a:r>
            <a:r>
              <a:rPr b="1" lang="en-GB" sz="1100">
                <a:latin typeface="Arial"/>
                <a:ea typeface="Arial"/>
                <a:cs typeface="Arial"/>
                <a:sym typeface="Arial"/>
              </a:rPr>
              <a:t>)</a:t>
            </a:r>
            <a:r>
              <a:rPr lang="en-GB" sz="1100">
                <a:latin typeface="Arial"/>
                <a:ea typeface="Arial"/>
                <a:cs typeface="Arial"/>
                <a:sym typeface="Arial"/>
              </a:rPr>
              <a:t>: This is shown to be true directly from the definition of Final States (</a:t>
            </a:r>
            <a:r>
              <a:rPr lang="en-GB" sz="1100">
                <a:latin typeface="Roboto Mono"/>
                <a:ea typeface="Roboto Mono"/>
                <a:cs typeface="Roboto Mono"/>
                <a:sym typeface="Roboto Mono"/>
              </a:rPr>
              <a:t>F</a:t>
            </a:r>
            <a:r>
              <a:rPr lang="en-GB" sz="1100">
                <a:latin typeface="Arial"/>
                <a:ea typeface="Arial"/>
                <a:cs typeface="Arial"/>
                <a:sym typeface="Arial"/>
              </a:rPr>
              <a:t>) in the DFA.</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b="1" lang="en-GB" sz="1100">
                <a:latin typeface="Arial"/>
                <a:ea typeface="Arial"/>
                <a:cs typeface="Arial"/>
                <a:sym typeface="Arial"/>
              </a:rPr>
              <a:t>Inductive Step</a:t>
            </a:r>
            <a:r>
              <a:rPr lang="en-GB" sz="1100">
                <a:latin typeface="Arial"/>
                <a:ea typeface="Arial"/>
                <a:cs typeface="Arial"/>
                <a:sym typeface="Arial"/>
              </a:rPr>
              <a:t>: It assumes the claim is true for all shorter experiments and then uses </a:t>
            </a:r>
            <a:r>
              <a:rPr b="1" lang="en-GB" sz="1100">
                <a:latin typeface="Arial"/>
                <a:ea typeface="Arial"/>
                <a:cs typeface="Arial"/>
                <a:sym typeface="Arial"/>
              </a:rPr>
              <a:t>Lemma 2</a:t>
            </a:r>
            <a:r>
              <a:rPr lang="en-GB" sz="1100">
                <a:latin typeface="Arial"/>
                <a:ea typeface="Arial"/>
                <a:cs typeface="Arial"/>
                <a:sym typeface="Arial"/>
              </a:rPr>
              <a:t> and the </a:t>
            </a:r>
            <a:r>
              <a:rPr b="1" lang="en-GB" sz="1100">
                <a:latin typeface="Arial"/>
                <a:ea typeface="Arial"/>
                <a:cs typeface="Arial"/>
                <a:sym typeface="Arial"/>
              </a:rPr>
              <a:t>closed</a:t>
            </a:r>
            <a:r>
              <a:rPr lang="en-GB" sz="1100">
                <a:latin typeface="Arial"/>
                <a:ea typeface="Arial"/>
                <a:cs typeface="Arial"/>
                <a:sym typeface="Arial"/>
              </a:rPr>
              <a:t> property of the table to show it must also be true for longer experiments.</a:t>
            </a:r>
            <a:endParaRPr sz="1100">
              <a:latin typeface="Arial"/>
              <a:ea typeface="Arial"/>
              <a:cs typeface="Arial"/>
              <a:sym typeface="Arial"/>
            </a:endParaRPr>
          </a:p>
          <a:p>
            <a:pPr indent="0" lvl="0" marL="0" rtl="0" algn="l">
              <a:spcBef>
                <a:spcPts val="1200"/>
              </a:spcBef>
              <a:spcAft>
                <a:spcPts val="1200"/>
              </a:spcAft>
              <a:buNone/>
            </a:pPr>
            <a:r>
              <a:t/>
            </a:r>
            <a:endParaRPr/>
          </a:p>
        </p:txBody>
      </p:sp>
      <p:pic>
        <p:nvPicPr>
          <p:cNvPr id="138" name="Google Shape;138;p26"/>
          <p:cNvPicPr preferRelativeResize="0"/>
          <p:nvPr/>
        </p:nvPicPr>
        <p:blipFill>
          <a:blip r:embed="rId3">
            <a:alphaModFix/>
          </a:blip>
          <a:stretch>
            <a:fillRect/>
          </a:stretch>
        </p:blipFill>
        <p:spPr>
          <a:xfrm>
            <a:off x="2372100" y="3179600"/>
            <a:ext cx="3691900" cy="1963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555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Lemma 4 - Our DFA is the Unique Smallest Model</a:t>
            </a:r>
            <a:endParaRPr/>
          </a:p>
          <a:p>
            <a:pPr indent="0" lvl="0" marL="0" rtl="0" algn="l">
              <a:spcBef>
                <a:spcPts val="0"/>
              </a:spcBef>
              <a:spcAft>
                <a:spcPts val="0"/>
              </a:spcAft>
              <a:buNone/>
            </a:pPr>
            <a:r>
              <a:t/>
            </a:r>
            <a:endParaRPr/>
          </a:p>
        </p:txBody>
      </p:sp>
      <p:sp>
        <p:nvSpPr>
          <p:cNvPr id="144" name="Google Shape;144;p27"/>
          <p:cNvSpPr txBox="1"/>
          <p:nvPr>
            <p:ph idx="1" type="body"/>
          </p:nvPr>
        </p:nvSpPr>
        <p:spPr>
          <a:xfrm>
            <a:off x="274775" y="155132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SzPts val="1500"/>
              <a:buFont typeface="Arial"/>
              <a:buChar char="●"/>
            </a:pPr>
            <a:r>
              <a:rPr b="1" lang="en-GB" sz="1500">
                <a:latin typeface="Arial"/>
                <a:ea typeface="Arial"/>
                <a:cs typeface="Arial"/>
                <a:sym typeface="Arial"/>
              </a:rPr>
              <a:t>The Claim</a:t>
            </a:r>
            <a:r>
              <a:rPr lang="en-GB" sz="1500">
                <a:latin typeface="Arial"/>
                <a:ea typeface="Arial"/>
                <a:cs typeface="Arial"/>
                <a:sym typeface="Arial"/>
              </a:rPr>
              <a:t>: To prove that the DFA </a:t>
            </a:r>
            <a:r>
              <a:rPr lang="en-GB" sz="1500">
                <a:latin typeface="Roboto Mono"/>
                <a:ea typeface="Roboto Mono"/>
                <a:cs typeface="Roboto Mono"/>
                <a:sym typeface="Roboto Mono"/>
              </a:rPr>
              <a:t>M</a:t>
            </a:r>
            <a:r>
              <a:rPr lang="en-GB" sz="1500">
                <a:latin typeface="Arial"/>
                <a:ea typeface="Arial"/>
                <a:cs typeface="Arial"/>
                <a:sym typeface="Arial"/>
              </a:rPr>
              <a:t> we built is not just correct for our data, but is also the </a:t>
            </a:r>
            <a:r>
              <a:rPr b="1" lang="en-GB" sz="1500">
                <a:latin typeface="Arial"/>
                <a:ea typeface="Arial"/>
                <a:cs typeface="Arial"/>
                <a:sym typeface="Arial"/>
              </a:rPr>
              <a:t>smallest and only</a:t>
            </a:r>
            <a:r>
              <a:rPr lang="en-GB" sz="1500">
                <a:latin typeface="Arial"/>
                <a:ea typeface="Arial"/>
                <a:cs typeface="Arial"/>
                <a:sym typeface="Arial"/>
              </a:rPr>
              <a:t> DFA of its size that can be.</a:t>
            </a:r>
            <a:endParaRPr sz="1900">
              <a:latin typeface="Arial"/>
              <a:ea typeface="Arial"/>
              <a:cs typeface="Arial"/>
              <a:sym typeface="Arial"/>
            </a:endParaRPr>
          </a:p>
          <a:p>
            <a:pPr indent="-323850" lvl="0" marL="457200" rtl="0" algn="l">
              <a:spcBef>
                <a:spcPts val="1000"/>
              </a:spcBef>
              <a:spcAft>
                <a:spcPts val="0"/>
              </a:spcAft>
              <a:buSzPts val="1500"/>
              <a:buFont typeface="Arial"/>
              <a:buChar char="●"/>
            </a:pPr>
            <a:r>
              <a:rPr b="1" lang="en-GB" sz="1500">
                <a:latin typeface="Arial"/>
                <a:ea typeface="Arial"/>
                <a:cs typeface="Arial"/>
                <a:sym typeface="Arial"/>
              </a:rPr>
              <a:t>The Guarantee</a:t>
            </a:r>
            <a:r>
              <a:rPr lang="en-GB" sz="1500">
                <a:latin typeface="Arial"/>
                <a:ea typeface="Arial"/>
                <a:cs typeface="Arial"/>
                <a:sym typeface="Arial"/>
              </a:rPr>
              <a:t>: This is the crucial result that ensures the L* algorithm produces the </a:t>
            </a:r>
            <a:r>
              <a:rPr b="1" lang="en-GB" sz="1500">
                <a:latin typeface="Arial"/>
                <a:ea typeface="Arial"/>
                <a:cs typeface="Arial"/>
                <a:sym typeface="Arial"/>
              </a:rPr>
              <a:t>unique minimal DFA</a:t>
            </a:r>
            <a:r>
              <a:rPr lang="en-GB" sz="1500">
                <a:latin typeface="Arial"/>
                <a:ea typeface="Arial"/>
                <a:cs typeface="Arial"/>
                <a:sym typeface="Arial"/>
              </a:rPr>
              <a:t> for the data it has collected. No smaller model, and no different model of the same size, can explain the observations in the table.</a:t>
            </a:r>
            <a:endParaRPr sz="1500">
              <a:latin typeface="Arial"/>
              <a:ea typeface="Arial"/>
              <a:cs typeface="Arial"/>
              <a:sym typeface="Arial"/>
            </a:endParaRPr>
          </a:p>
          <a:p>
            <a:pPr indent="-323850" lvl="0" marL="457200" rtl="0" algn="l">
              <a:spcBef>
                <a:spcPts val="1000"/>
              </a:spcBef>
              <a:spcAft>
                <a:spcPts val="0"/>
              </a:spcAft>
              <a:buSzPts val="1500"/>
              <a:buFont typeface="Arial"/>
              <a:buChar char="●"/>
            </a:pPr>
            <a:r>
              <a:rPr b="1" lang="en-GB" sz="1500">
                <a:latin typeface="Arial"/>
                <a:ea typeface="Arial"/>
                <a:cs typeface="Arial"/>
                <a:sym typeface="Arial"/>
              </a:rPr>
              <a:t>Proof Sketch</a:t>
            </a:r>
            <a:r>
              <a:rPr lang="en-GB" sz="1500">
                <a:latin typeface="Arial"/>
                <a:ea typeface="Arial"/>
                <a:cs typeface="Arial"/>
                <a:sym typeface="Arial"/>
              </a:rPr>
              <a:t>: The proof confirms this by showing that any other consistent DFA must have at least as many states as ours. It then defines a one-to-one mapping between the states and verifies that this mapping preserves the entire DFA structure (initial state, transitions, and final states).</a:t>
            </a:r>
            <a:endParaRPr sz="1500">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Leaner L*</a:t>
            </a:r>
            <a:endParaRPr/>
          </a:p>
        </p:txBody>
      </p:sp>
      <p:sp>
        <p:nvSpPr>
          <p:cNvPr id="150" name="Google Shape;150;p28"/>
          <p:cNvSpPr txBox="1"/>
          <p:nvPr>
            <p:ph idx="1" type="body"/>
          </p:nvPr>
        </p:nvSpPr>
        <p:spPr>
          <a:xfrm>
            <a:off x="311700" y="1152475"/>
            <a:ext cx="8520600" cy="3855300"/>
          </a:xfrm>
          <a:prstGeom prst="rect">
            <a:avLst/>
          </a:prstGeom>
        </p:spPr>
        <p:txBody>
          <a:bodyPr anchorCtr="0" anchor="t" bIns="91425" lIns="91425" spcFirstLastPara="1" rIns="91425" wrap="square" tIns="91425">
            <a:noAutofit/>
          </a:bodyPr>
          <a:lstStyle/>
          <a:p>
            <a:pPr indent="-311150" lvl="0" marL="457200" rtl="0" algn="l">
              <a:lnSpc>
                <a:spcPct val="105000"/>
              </a:lnSpc>
              <a:spcBef>
                <a:spcPts val="0"/>
              </a:spcBef>
              <a:spcAft>
                <a:spcPts val="0"/>
              </a:spcAft>
              <a:buSzPts val="1300"/>
              <a:buAutoNum type="arabicPeriod"/>
            </a:pPr>
            <a:r>
              <a:rPr b="1" lang="en-GB" sz="1300">
                <a:latin typeface="Arial"/>
                <a:ea typeface="Arial"/>
                <a:cs typeface="Arial"/>
                <a:sym typeface="Arial"/>
              </a:rPr>
              <a:t>Initialize</a:t>
            </a:r>
            <a:r>
              <a:rPr lang="en-GB" sz="1300">
                <a:latin typeface="Arial"/>
                <a:ea typeface="Arial"/>
                <a:cs typeface="Arial"/>
                <a:sym typeface="Arial"/>
              </a:rPr>
              <a:t>: The Learner starts with a tiny observation table where </a:t>
            </a:r>
            <a:r>
              <a:rPr lang="en-GB" sz="1300">
                <a:latin typeface="Roboto Mono"/>
                <a:ea typeface="Roboto Mono"/>
                <a:cs typeface="Roboto Mono"/>
                <a:sym typeface="Roboto Mono"/>
              </a:rPr>
              <a:t>S = {ε}</a:t>
            </a:r>
            <a:r>
              <a:rPr lang="en-GB" sz="1300">
                <a:latin typeface="Arial"/>
                <a:ea typeface="Arial"/>
                <a:cs typeface="Arial"/>
                <a:sym typeface="Arial"/>
              </a:rPr>
              <a:t> and </a:t>
            </a:r>
            <a:r>
              <a:rPr lang="en-GB" sz="1300">
                <a:latin typeface="Roboto Mono"/>
                <a:ea typeface="Roboto Mono"/>
                <a:cs typeface="Roboto Mono"/>
                <a:sym typeface="Roboto Mono"/>
              </a:rPr>
              <a:t>E = {ε}</a:t>
            </a:r>
            <a:r>
              <a:rPr lang="en-GB" sz="1300">
                <a:latin typeface="Arial"/>
                <a:ea typeface="Arial"/>
                <a:cs typeface="Arial"/>
                <a:sym typeface="Arial"/>
              </a:rPr>
              <a:t>. It asks membership queries to fill this initial table .</a:t>
            </a:r>
            <a:endParaRPr sz="1300">
              <a:latin typeface="Arial"/>
              <a:ea typeface="Arial"/>
              <a:cs typeface="Arial"/>
              <a:sym typeface="Arial"/>
            </a:endParaRPr>
          </a:p>
          <a:p>
            <a:pPr indent="-311150" lvl="0" marL="457200" rtl="0" algn="l">
              <a:lnSpc>
                <a:spcPct val="105000"/>
              </a:lnSpc>
              <a:spcBef>
                <a:spcPts val="1000"/>
              </a:spcBef>
              <a:spcAft>
                <a:spcPts val="0"/>
              </a:spcAft>
              <a:buSzPts val="1300"/>
              <a:buFont typeface="Arial"/>
              <a:buAutoNum type="arabicPeriod"/>
            </a:pPr>
            <a:r>
              <a:rPr b="1" lang="en-GB" sz="1300">
                <a:latin typeface="Arial"/>
                <a:ea typeface="Arial"/>
                <a:cs typeface="Arial"/>
                <a:sym typeface="Arial"/>
              </a:rPr>
              <a:t>Stabilize the Table (Inner Loop)</a:t>
            </a:r>
            <a:r>
              <a:rPr lang="en-GB" sz="1300">
                <a:latin typeface="Arial"/>
                <a:ea typeface="Arial"/>
                <a:cs typeface="Arial"/>
                <a:sym typeface="Arial"/>
              </a:rPr>
              <a:t>: The Learner repeatedly checks the table:</a:t>
            </a:r>
            <a:endParaRPr sz="1300">
              <a:latin typeface="Arial"/>
              <a:ea typeface="Arial"/>
              <a:cs typeface="Arial"/>
              <a:sym typeface="Arial"/>
            </a:endParaRPr>
          </a:p>
          <a:p>
            <a:pPr indent="-311150" lvl="0" marL="914400" rtl="0" algn="l">
              <a:lnSpc>
                <a:spcPct val="105000"/>
              </a:lnSpc>
              <a:spcBef>
                <a:spcPts val="0"/>
              </a:spcBef>
              <a:spcAft>
                <a:spcPts val="0"/>
              </a:spcAft>
              <a:buSzPts val="1300"/>
              <a:buFont typeface="Arial"/>
              <a:buChar char="●"/>
            </a:pPr>
            <a:r>
              <a:rPr b="1" lang="en-GB" sz="1300">
                <a:latin typeface="Arial"/>
                <a:ea typeface="Arial"/>
                <a:cs typeface="Arial"/>
                <a:sym typeface="Arial"/>
              </a:rPr>
              <a:t>If Not Consistent</a:t>
            </a:r>
            <a:r>
              <a:rPr lang="en-GB" sz="1300">
                <a:latin typeface="Arial"/>
                <a:ea typeface="Arial"/>
                <a:cs typeface="Arial"/>
                <a:sym typeface="Arial"/>
              </a:rPr>
              <a:t>: It finds the inconsistency and adds a new </a:t>
            </a:r>
            <a:r>
              <a:rPr b="1" lang="en-GB" sz="1300">
                <a:latin typeface="Arial"/>
                <a:ea typeface="Arial"/>
                <a:cs typeface="Arial"/>
                <a:sym typeface="Arial"/>
              </a:rPr>
              <a:t>experiment (suffix)</a:t>
            </a:r>
            <a:r>
              <a:rPr lang="en-GB" sz="1300">
                <a:latin typeface="Arial"/>
                <a:ea typeface="Arial"/>
                <a:cs typeface="Arial"/>
                <a:sym typeface="Arial"/>
              </a:rPr>
              <a:t> to </a:t>
            </a:r>
            <a:r>
              <a:rPr lang="en-GB" sz="1300">
                <a:latin typeface="Roboto Mono"/>
                <a:ea typeface="Roboto Mono"/>
                <a:cs typeface="Roboto Mono"/>
                <a:sym typeface="Roboto Mono"/>
              </a:rPr>
              <a:t>E</a:t>
            </a:r>
            <a:r>
              <a:rPr lang="en-GB" sz="1300">
                <a:latin typeface="Arial"/>
                <a:ea typeface="Arial"/>
                <a:cs typeface="Arial"/>
                <a:sym typeface="Arial"/>
              </a:rPr>
              <a:t> to distinguish the rows. It then asks more membership queries to fill the new column .</a:t>
            </a:r>
            <a:endParaRPr sz="1300">
              <a:latin typeface="Arial"/>
              <a:ea typeface="Arial"/>
              <a:cs typeface="Arial"/>
              <a:sym typeface="Arial"/>
            </a:endParaRPr>
          </a:p>
          <a:p>
            <a:pPr indent="-311150" lvl="0" marL="914400" rtl="0" algn="l">
              <a:lnSpc>
                <a:spcPct val="105000"/>
              </a:lnSpc>
              <a:spcBef>
                <a:spcPts val="0"/>
              </a:spcBef>
              <a:spcAft>
                <a:spcPts val="0"/>
              </a:spcAft>
              <a:buSzPts val="1300"/>
              <a:buFont typeface="Arial"/>
              <a:buChar char="●"/>
            </a:pPr>
            <a:r>
              <a:rPr b="1" lang="en-GB" sz="1300">
                <a:latin typeface="Arial"/>
                <a:ea typeface="Arial"/>
                <a:cs typeface="Arial"/>
                <a:sym typeface="Arial"/>
              </a:rPr>
              <a:t>If Not Closed</a:t>
            </a:r>
            <a:r>
              <a:rPr lang="en-GB" sz="1300">
                <a:latin typeface="Arial"/>
                <a:ea typeface="Arial"/>
                <a:cs typeface="Arial"/>
                <a:sym typeface="Arial"/>
              </a:rPr>
              <a:t>: It finds a new behavior and adds the corresponding </a:t>
            </a:r>
            <a:r>
              <a:rPr b="1" lang="en-GB" sz="1300">
                <a:latin typeface="Arial"/>
                <a:ea typeface="Arial"/>
                <a:cs typeface="Arial"/>
                <a:sym typeface="Arial"/>
              </a:rPr>
              <a:t>prefix</a:t>
            </a:r>
            <a:r>
              <a:rPr lang="en-GB" sz="1300">
                <a:latin typeface="Arial"/>
                <a:ea typeface="Arial"/>
                <a:cs typeface="Arial"/>
                <a:sym typeface="Arial"/>
              </a:rPr>
              <a:t> to </a:t>
            </a:r>
            <a:r>
              <a:rPr lang="en-GB" sz="1300">
                <a:latin typeface="Roboto Mono"/>
                <a:ea typeface="Roboto Mono"/>
                <a:cs typeface="Roboto Mono"/>
                <a:sym typeface="Roboto Mono"/>
              </a:rPr>
              <a:t>S</a:t>
            </a:r>
            <a:r>
              <a:rPr lang="en-GB" sz="1300">
                <a:latin typeface="Arial"/>
                <a:ea typeface="Arial"/>
                <a:cs typeface="Arial"/>
                <a:sym typeface="Arial"/>
              </a:rPr>
              <a:t>. It then asks more membership queries to fill the new rows .</a:t>
            </a:r>
            <a:endParaRPr sz="1300">
              <a:latin typeface="Arial"/>
              <a:ea typeface="Arial"/>
              <a:cs typeface="Arial"/>
              <a:sym typeface="Arial"/>
            </a:endParaRPr>
          </a:p>
          <a:p>
            <a:pPr indent="-311150" lvl="0" marL="914400" rtl="0" algn="l">
              <a:lnSpc>
                <a:spcPct val="105000"/>
              </a:lnSpc>
              <a:spcBef>
                <a:spcPts val="0"/>
              </a:spcBef>
              <a:spcAft>
                <a:spcPts val="0"/>
              </a:spcAft>
              <a:buSzPts val="1300"/>
              <a:buFont typeface="Arial"/>
              <a:buChar char="●"/>
            </a:pPr>
            <a:r>
              <a:rPr lang="en-GB" sz="1300">
                <a:latin typeface="Arial"/>
                <a:ea typeface="Arial"/>
                <a:cs typeface="Arial"/>
                <a:sym typeface="Arial"/>
              </a:rPr>
              <a:t>This loop continues until the table is both </a:t>
            </a:r>
            <a:r>
              <a:rPr b="1" lang="en-GB" sz="1300">
                <a:latin typeface="Arial"/>
                <a:ea typeface="Arial"/>
                <a:cs typeface="Arial"/>
                <a:sym typeface="Arial"/>
              </a:rPr>
              <a:t>closed and consistent</a:t>
            </a:r>
            <a:r>
              <a:rPr lang="en-GB" sz="1300">
                <a:latin typeface="Arial"/>
                <a:ea typeface="Arial"/>
                <a:cs typeface="Arial"/>
                <a:sym typeface="Arial"/>
              </a:rPr>
              <a:t>.</a:t>
            </a:r>
            <a:endParaRPr sz="1300">
              <a:latin typeface="Arial"/>
              <a:ea typeface="Arial"/>
              <a:cs typeface="Arial"/>
              <a:sym typeface="Arial"/>
            </a:endParaRPr>
          </a:p>
          <a:p>
            <a:pPr indent="-311150" lvl="0" marL="457200" rtl="0" algn="l">
              <a:lnSpc>
                <a:spcPct val="105000"/>
              </a:lnSpc>
              <a:spcBef>
                <a:spcPts val="1000"/>
              </a:spcBef>
              <a:spcAft>
                <a:spcPts val="0"/>
              </a:spcAft>
              <a:buSzPts val="1300"/>
              <a:buAutoNum type="arabicPeriod"/>
            </a:pPr>
            <a:r>
              <a:rPr b="1" lang="en-GB" sz="1300">
                <a:latin typeface="Arial"/>
                <a:ea typeface="Arial"/>
                <a:cs typeface="Arial"/>
                <a:sym typeface="Arial"/>
              </a:rPr>
              <a:t>Make a Conjecture</a:t>
            </a:r>
            <a:r>
              <a:rPr lang="en-GB" sz="1300">
                <a:latin typeface="Arial"/>
                <a:ea typeface="Arial"/>
                <a:cs typeface="Arial"/>
                <a:sym typeface="Arial"/>
              </a:rPr>
              <a:t>: Once the table is stable, the Learner constructs the DFA </a:t>
            </a:r>
            <a:r>
              <a:rPr lang="en-GB" sz="1300">
                <a:latin typeface="Roboto Mono"/>
                <a:ea typeface="Roboto Mono"/>
                <a:cs typeface="Roboto Mono"/>
                <a:sym typeface="Roboto Mono"/>
              </a:rPr>
              <a:t>M(S,E,T)</a:t>
            </a:r>
            <a:r>
              <a:rPr lang="en-GB" sz="1300">
                <a:latin typeface="Arial"/>
                <a:ea typeface="Arial"/>
                <a:cs typeface="Arial"/>
                <a:sym typeface="Arial"/>
              </a:rPr>
              <a:t> and asks the Teacher an </a:t>
            </a:r>
            <a:r>
              <a:rPr b="1" lang="en-GB" sz="1300">
                <a:latin typeface="Arial"/>
                <a:ea typeface="Arial"/>
                <a:cs typeface="Arial"/>
                <a:sym typeface="Arial"/>
              </a:rPr>
              <a:t>Equivalence Query</a:t>
            </a:r>
            <a:r>
              <a:rPr lang="en-GB" sz="1300">
                <a:latin typeface="Arial"/>
                <a:ea typeface="Arial"/>
                <a:cs typeface="Arial"/>
                <a:sym typeface="Arial"/>
              </a:rPr>
              <a:t> .</a:t>
            </a:r>
            <a:endParaRPr sz="1300">
              <a:latin typeface="Arial"/>
              <a:ea typeface="Arial"/>
              <a:cs typeface="Arial"/>
              <a:sym typeface="Arial"/>
            </a:endParaRPr>
          </a:p>
          <a:p>
            <a:pPr indent="-311150" lvl="0" marL="457200" rtl="0" algn="l">
              <a:lnSpc>
                <a:spcPct val="105000"/>
              </a:lnSpc>
              <a:spcBef>
                <a:spcPts val="1000"/>
              </a:spcBef>
              <a:spcAft>
                <a:spcPts val="0"/>
              </a:spcAft>
              <a:buSzPts val="1300"/>
              <a:buFont typeface="Arial"/>
              <a:buAutoNum type="arabicPeriod"/>
            </a:pPr>
            <a:r>
              <a:rPr b="1" lang="en-GB" sz="1300">
                <a:latin typeface="Arial"/>
                <a:ea typeface="Arial"/>
                <a:cs typeface="Arial"/>
                <a:sym typeface="Arial"/>
              </a:rPr>
              <a:t>Process the Teacher's Feedback</a:t>
            </a:r>
            <a:r>
              <a:rPr lang="en-GB" sz="1300">
                <a:latin typeface="Arial"/>
                <a:ea typeface="Arial"/>
                <a:cs typeface="Arial"/>
                <a:sym typeface="Arial"/>
              </a:rPr>
              <a:t>:</a:t>
            </a:r>
            <a:endParaRPr sz="1300">
              <a:latin typeface="Arial"/>
              <a:ea typeface="Arial"/>
              <a:cs typeface="Arial"/>
              <a:sym typeface="Arial"/>
            </a:endParaRPr>
          </a:p>
          <a:p>
            <a:pPr indent="-311150" lvl="0" marL="914400" rtl="0" algn="l">
              <a:lnSpc>
                <a:spcPct val="105000"/>
              </a:lnSpc>
              <a:spcBef>
                <a:spcPts val="0"/>
              </a:spcBef>
              <a:spcAft>
                <a:spcPts val="0"/>
              </a:spcAft>
              <a:buSzPts val="1300"/>
              <a:buFont typeface="Arial"/>
              <a:buChar char="●"/>
            </a:pPr>
            <a:r>
              <a:rPr lang="en-GB" sz="1300">
                <a:latin typeface="Arial"/>
                <a:ea typeface="Arial"/>
                <a:cs typeface="Arial"/>
                <a:sym typeface="Arial"/>
              </a:rPr>
              <a:t>If the Teacher replies</a:t>
            </a:r>
            <a:br>
              <a:rPr lang="en-GB" sz="1300">
                <a:latin typeface="Arial"/>
                <a:ea typeface="Arial"/>
                <a:cs typeface="Arial"/>
                <a:sym typeface="Arial"/>
              </a:rPr>
            </a:br>
            <a:r>
              <a:rPr lang="en-GB" sz="1300">
                <a:latin typeface="Arial"/>
                <a:ea typeface="Arial"/>
                <a:cs typeface="Arial"/>
                <a:sym typeface="Arial"/>
              </a:rPr>
              <a:t> </a:t>
            </a:r>
            <a:r>
              <a:rPr b="1" lang="en-GB" sz="1300">
                <a:latin typeface="Arial"/>
                <a:ea typeface="Arial"/>
                <a:cs typeface="Arial"/>
                <a:sym typeface="Arial"/>
              </a:rPr>
              <a:t>"yes"</a:t>
            </a:r>
            <a:r>
              <a:rPr lang="en-GB" sz="1300">
                <a:latin typeface="Arial"/>
                <a:ea typeface="Arial"/>
                <a:cs typeface="Arial"/>
                <a:sym typeface="Arial"/>
              </a:rPr>
              <a:t>: The algorithm halts and outputs the correct DFA .</a:t>
            </a:r>
            <a:endParaRPr sz="1300">
              <a:latin typeface="Arial"/>
              <a:ea typeface="Arial"/>
              <a:cs typeface="Arial"/>
              <a:sym typeface="Arial"/>
            </a:endParaRPr>
          </a:p>
          <a:p>
            <a:pPr indent="-311150" lvl="0" marL="914400" rtl="0" algn="l">
              <a:lnSpc>
                <a:spcPct val="105000"/>
              </a:lnSpc>
              <a:spcBef>
                <a:spcPts val="0"/>
              </a:spcBef>
              <a:spcAft>
                <a:spcPts val="0"/>
              </a:spcAft>
              <a:buSzPts val="1300"/>
              <a:buFont typeface="Arial"/>
              <a:buChar char="●"/>
            </a:pPr>
            <a:r>
              <a:rPr lang="en-GB" sz="1300">
                <a:latin typeface="Arial"/>
                <a:ea typeface="Arial"/>
                <a:cs typeface="Arial"/>
                <a:sym typeface="Arial"/>
              </a:rPr>
              <a:t>If the Teacher replies with a</a:t>
            </a:r>
            <a:br>
              <a:rPr lang="en-GB" sz="1300">
                <a:latin typeface="Arial"/>
                <a:ea typeface="Arial"/>
                <a:cs typeface="Arial"/>
                <a:sym typeface="Arial"/>
              </a:rPr>
            </a:br>
            <a:r>
              <a:rPr lang="en-GB" sz="1300">
                <a:latin typeface="Arial"/>
                <a:ea typeface="Arial"/>
                <a:cs typeface="Arial"/>
                <a:sym typeface="Arial"/>
              </a:rPr>
              <a:t> </a:t>
            </a:r>
            <a:r>
              <a:rPr b="1" lang="en-GB" sz="1300">
                <a:latin typeface="Arial"/>
                <a:ea typeface="Arial"/>
                <a:cs typeface="Arial"/>
                <a:sym typeface="Arial"/>
              </a:rPr>
              <a:t>counterexample</a:t>
            </a:r>
            <a:r>
              <a:rPr lang="en-GB" sz="1300">
                <a:latin typeface="Arial"/>
                <a:ea typeface="Arial"/>
                <a:cs typeface="Arial"/>
                <a:sym typeface="Arial"/>
              </a:rPr>
              <a:t> </a:t>
            </a:r>
            <a:r>
              <a:rPr lang="en-GB" sz="1300">
                <a:latin typeface="Roboto Mono"/>
                <a:ea typeface="Roboto Mono"/>
                <a:cs typeface="Roboto Mono"/>
                <a:sym typeface="Roboto Mono"/>
              </a:rPr>
              <a:t>t</a:t>
            </a:r>
            <a:r>
              <a:rPr lang="en-GB" sz="1300">
                <a:latin typeface="Arial"/>
                <a:ea typeface="Arial"/>
                <a:cs typeface="Arial"/>
                <a:sym typeface="Arial"/>
              </a:rPr>
              <a:t>: The Learner adds </a:t>
            </a:r>
            <a:r>
              <a:rPr lang="en-GB" sz="1300">
                <a:latin typeface="Roboto Mono"/>
                <a:ea typeface="Roboto Mono"/>
                <a:cs typeface="Roboto Mono"/>
                <a:sym typeface="Roboto Mono"/>
              </a:rPr>
              <a:t>t</a:t>
            </a:r>
            <a:r>
              <a:rPr lang="en-GB" sz="1300">
                <a:latin typeface="Arial"/>
                <a:ea typeface="Arial"/>
                <a:cs typeface="Arial"/>
                <a:sym typeface="Arial"/>
              </a:rPr>
              <a:t> and all of its prefixes to </a:t>
            </a:r>
            <a:r>
              <a:rPr lang="en-GB" sz="1300">
                <a:latin typeface="Roboto Mono"/>
                <a:ea typeface="Roboto Mono"/>
                <a:cs typeface="Roboto Mono"/>
                <a:sym typeface="Roboto Mono"/>
              </a:rPr>
              <a:t>S</a:t>
            </a:r>
            <a:r>
              <a:rPr lang="en-GB" sz="1300">
                <a:latin typeface="Arial"/>
                <a:ea typeface="Arial"/>
                <a:cs typeface="Arial"/>
                <a:sym typeface="Arial"/>
              </a:rPr>
              <a:t>, updates the table with new membership queries, and goes back to Step 2 to re-stabilize its now larger and more informed table .</a:t>
            </a:r>
            <a:endParaRPr sz="1300">
              <a:latin typeface="Arial"/>
              <a:ea typeface="Arial"/>
              <a:cs typeface="Arial"/>
              <a:sym typeface="Arial"/>
            </a:endParaRPr>
          </a:p>
          <a:p>
            <a:pPr indent="0" lvl="0" marL="0" rtl="0" algn="l">
              <a:lnSpc>
                <a:spcPct val="105000"/>
              </a:lnSpc>
              <a:spcBef>
                <a:spcPts val="1200"/>
              </a:spcBef>
              <a:spcAft>
                <a:spcPts val="1200"/>
              </a:spcAft>
              <a:buNone/>
            </a:pPr>
            <a:r>
              <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the Algorithm is Correct</a:t>
            </a:r>
            <a:endParaRPr/>
          </a:p>
          <a:p>
            <a:pPr indent="0" lvl="0" marL="0" rtl="0" algn="l">
              <a:spcBef>
                <a:spcPts val="0"/>
              </a:spcBef>
              <a:spcAft>
                <a:spcPts val="0"/>
              </a:spcAft>
              <a:buNone/>
            </a:pPr>
            <a:r>
              <a:t/>
            </a:r>
            <a:endParaRPr/>
          </a:p>
        </p:txBody>
      </p:sp>
      <p:sp>
        <p:nvSpPr>
          <p:cNvPr id="156" name="Google Shape;15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 paper briefly addresses the algorithm's correctness, which is quite straightforward .</a:t>
            </a:r>
            <a:endParaRPr/>
          </a:p>
          <a:p>
            <a:pPr indent="-342900" lvl="0" marL="457200" rtl="0" algn="l">
              <a:spcBef>
                <a:spcPts val="0"/>
              </a:spcBef>
              <a:spcAft>
                <a:spcPts val="0"/>
              </a:spcAft>
              <a:buSzPts val="1800"/>
              <a:buChar char="●"/>
            </a:pPr>
            <a:r>
              <a:rPr lang="en-GB"/>
              <a:t>The algorithm only terminates when the Teacher gives a "yes" answer to an equivalence query.</a:t>
            </a:r>
            <a:endParaRPr/>
          </a:p>
          <a:p>
            <a:pPr indent="-342900" lvl="0" marL="457200" rtl="0" algn="l">
              <a:spcBef>
                <a:spcPts val="0"/>
              </a:spcBef>
              <a:spcAft>
                <a:spcPts val="0"/>
              </a:spcAft>
              <a:buSzPts val="1800"/>
              <a:buChar char="●"/>
            </a:pPr>
            <a:r>
              <a:rPr lang="en-GB"/>
              <a:t>Since the Teacher is assumed to be "minimally adequate" (i.e., always truthful), a "yes" answer guarantees that the Learner's final output is a correct DFA for the unknown language.</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2234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120"/>
              <a:t>The Termination Proof - Why L* Always Finishes</a:t>
            </a:r>
            <a:endParaRPr sz="1720"/>
          </a:p>
        </p:txBody>
      </p:sp>
      <p:sp>
        <p:nvSpPr>
          <p:cNvPr id="162" name="Google Shape;162;p30"/>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b="1" lang="en-GB" sz="1400">
                <a:latin typeface="Arial"/>
                <a:ea typeface="Arial"/>
                <a:cs typeface="Arial"/>
                <a:sym typeface="Arial"/>
              </a:rPr>
              <a:t>The Question</a:t>
            </a:r>
            <a:r>
              <a:rPr lang="en-GB" sz="1400">
                <a:latin typeface="Arial"/>
                <a:ea typeface="Arial"/>
                <a:cs typeface="Arial"/>
                <a:sym typeface="Arial"/>
              </a:rPr>
              <a:t>: How do we know the L* algorithm won't get stuck in an infinite loop of fixing its table and making bad guesses?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en-GB" sz="1400">
                <a:latin typeface="Arial"/>
                <a:ea typeface="Arial"/>
                <a:cs typeface="Arial"/>
                <a:sym typeface="Arial"/>
              </a:rPr>
              <a:t>The Answer</a:t>
            </a:r>
            <a:r>
              <a:rPr lang="en-GB" sz="1400">
                <a:latin typeface="Arial"/>
                <a:ea typeface="Arial"/>
                <a:cs typeface="Arial"/>
                <a:sym typeface="Arial"/>
              </a:rPr>
              <a:t>: The algorithm makes guaranteed progress in two ways:</a:t>
            </a:r>
            <a:endParaRPr sz="1400">
              <a:latin typeface="Arial"/>
              <a:ea typeface="Arial"/>
              <a:cs typeface="Arial"/>
              <a:sym typeface="Arial"/>
            </a:endParaRPr>
          </a:p>
          <a:p>
            <a:pPr indent="-317500" lvl="0" marL="914400" rtl="0" algn="l">
              <a:spcBef>
                <a:spcPts val="0"/>
              </a:spcBef>
              <a:spcAft>
                <a:spcPts val="0"/>
              </a:spcAft>
              <a:buSzPts val="1400"/>
              <a:buFont typeface="Arial"/>
              <a:buAutoNum type="arabicPeriod"/>
            </a:pPr>
            <a:r>
              <a:rPr lang="en-GB" sz="1400">
                <a:latin typeface="Arial"/>
                <a:ea typeface="Arial"/>
                <a:cs typeface="Arial"/>
                <a:sym typeface="Arial"/>
              </a:rPr>
              <a:t>The </a:t>
            </a:r>
            <a:r>
              <a:rPr b="1" lang="en-GB" sz="1400">
                <a:latin typeface="Arial"/>
                <a:ea typeface="Arial"/>
                <a:cs typeface="Arial"/>
                <a:sym typeface="Arial"/>
              </a:rPr>
              <a:t>Observation Table</a:t>
            </a:r>
            <a:r>
              <a:rPr lang="en-GB" sz="1400">
                <a:latin typeface="Arial"/>
                <a:ea typeface="Arial"/>
                <a:cs typeface="Arial"/>
                <a:sym typeface="Arial"/>
              </a:rPr>
              <a:t> consistently grows in a structured way.</a:t>
            </a:r>
            <a:endParaRPr sz="1400">
              <a:latin typeface="Arial"/>
              <a:ea typeface="Arial"/>
              <a:cs typeface="Arial"/>
              <a:sym typeface="Arial"/>
            </a:endParaRPr>
          </a:p>
          <a:p>
            <a:pPr indent="-317500" lvl="0" marL="914400" rtl="0" algn="l">
              <a:spcBef>
                <a:spcPts val="0"/>
              </a:spcBef>
              <a:spcAft>
                <a:spcPts val="0"/>
              </a:spcAft>
              <a:buSzPts val="1400"/>
              <a:buFont typeface="Arial"/>
              <a:buAutoNum type="arabicPeriod"/>
            </a:pPr>
            <a:r>
              <a:rPr lang="en-GB" sz="1400">
                <a:latin typeface="Arial"/>
                <a:ea typeface="Arial"/>
                <a:cs typeface="Arial"/>
                <a:sym typeface="Arial"/>
              </a:rPr>
              <a:t>The number of </a:t>
            </a:r>
            <a:r>
              <a:rPr b="1" lang="en-GB" sz="1400">
                <a:latin typeface="Arial"/>
                <a:ea typeface="Arial"/>
                <a:cs typeface="Arial"/>
                <a:sym typeface="Arial"/>
              </a:rPr>
              <a:t>states in its conjectured DFAs</a:t>
            </a:r>
            <a:r>
              <a:rPr lang="en-GB" sz="1400">
                <a:latin typeface="Arial"/>
                <a:ea typeface="Arial"/>
                <a:cs typeface="Arial"/>
                <a:sym typeface="Arial"/>
              </a:rPr>
              <a:t> is strictly increasing.</a:t>
            </a:r>
            <a:endParaRPr sz="1400">
              <a:latin typeface="Arial"/>
              <a:ea typeface="Arial"/>
              <a:cs typeface="Arial"/>
              <a:sym typeface="Arial"/>
            </a:endParaRPr>
          </a:p>
          <a:p>
            <a:pPr indent="-317500" lvl="0" marL="457200" rtl="0" algn="l">
              <a:spcBef>
                <a:spcPts val="0"/>
              </a:spcBef>
              <a:spcAft>
                <a:spcPts val="0"/>
              </a:spcAft>
              <a:buSzPts val="1400"/>
              <a:buChar char="●"/>
            </a:pPr>
            <a:r>
              <a:rPr lang="en-GB" sz="1400">
                <a:latin typeface="Arial"/>
                <a:ea typeface="Arial"/>
                <a:cs typeface="Arial"/>
                <a:sym typeface="Arial"/>
              </a:rPr>
              <a:t>Both of these are bounded by </a:t>
            </a:r>
            <a:r>
              <a:rPr lang="en-GB" sz="1400">
                <a:latin typeface="Roboto Mono"/>
                <a:ea typeface="Roboto Mono"/>
                <a:cs typeface="Roboto Mono"/>
                <a:sym typeface="Roboto Mono"/>
              </a:rPr>
              <a:t>n</a:t>
            </a:r>
            <a:r>
              <a:rPr lang="en-GB" sz="1400">
                <a:latin typeface="Arial"/>
                <a:ea typeface="Arial"/>
                <a:cs typeface="Arial"/>
                <a:sym typeface="Arial"/>
              </a:rPr>
              <a:t>, the number of states in the true minimal DFA.</a:t>
            </a:r>
            <a:endParaRPr sz="1400">
              <a:latin typeface="Arial"/>
              <a:ea typeface="Arial"/>
              <a:cs typeface="Arial"/>
              <a:sym typeface="Arial"/>
            </a:endParaRPr>
          </a:p>
          <a:p>
            <a:pPr indent="0" lvl="0" marL="0" rtl="0" algn="l">
              <a:spcBef>
                <a:spcPts val="0"/>
              </a:spcBef>
              <a:spcAft>
                <a:spcPts val="1200"/>
              </a:spcAft>
              <a:buNone/>
            </a:pPr>
            <a:r>
              <a:t/>
            </a:r>
            <a:endParaRPr/>
          </a:p>
        </p:txBody>
      </p:sp>
      <p:sp>
        <p:nvSpPr>
          <p:cNvPr id="163" name="Google Shape;163;p30"/>
          <p:cNvSpPr txBox="1"/>
          <p:nvPr/>
        </p:nvSpPr>
        <p:spPr>
          <a:xfrm>
            <a:off x="311700" y="2571750"/>
            <a:ext cx="6514500" cy="6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The Proof's Foundation (Lemma 5)</a:t>
            </a:r>
            <a:endParaRPr sz="1800">
              <a:solidFill>
                <a:schemeClr val="dk1"/>
              </a:solidFill>
            </a:endParaRPr>
          </a:p>
        </p:txBody>
      </p:sp>
      <p:sp>
        <p:nvSpPr>
          <p:cNvPr id="164" name="Google Shape;164;p30"/>
          <p:cNvSpPr txBox="1"/>
          <p:nvPr/>
        </p:nvSpPr>
        <p:spPr>
          <a:xfrm>
            <a:off x="311700" y="3212975"/>
            <a:ext cx="8520600" cy="172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The Claim</a:t>
            </a:r>
            <a:r>
              <a:rPr lang="en-GB">
                <a:solidFill>
                  <a:schemeClr val="dk1"/>
                </a:solidFill>
              </a:rPr>
              <a:t>: The number of unique "fingerprints" (</a:t>
            </a:r>
            <a:r>
              <a:rPr lang="en-GB">
                <a:solidFill>
                  <a:schemeClr val="dk1"/>
                </a:solidFill>
                <a:latin typeface="Roboto Mono"/>
                <a:ea typeface="Roboto Mono"/>
                <a:cs typeface="Roboto Mono"/>
                <a:sym typeface="Roboto Mono"/>
              </a:rPr>
              <a:t>row(s)</a:t>
            </a:r>
            <a:r>
              <a:rPr lang="en-GB">
                <a:solidFill>
                  <a:schemeClr val="dk1"/>
                </a:solidFill>
              </a:rPr>
              <a:t>) in our table's </a:t>
            </a:r>
            <a:r>
              <a:rPr lang="en-GB">
                <a:solidFill>
                  <a:schemeClr val="dk1"/>
                </a:solidFill>
                <a:latin typeface="Roboto Mono"/>
                <a:ea typeface="Roboto Mono"/>
                <a:cs typeface="Roboto Mono"/>
                <a:sym typeface="Roboto Mono"/>
              </a:rPr>
              <a:t>S</a:t>
            </a:r>
            <a:r>
              <a:rPr lang="en-GB">
                <a:solidFill>
                  <a:schemeClr val="dk1"/>
                </a:solidFill>
              </a:rPr>
              <a:t> section is a lower bound on the number of states in </a:t>
            </a:r>
            <a:r>
              <a:rPr i="1" lang="en-GB">
                <a:solidFill>
                  <a:schemeClr val="dk1"/>
                </a:solidFill>
              </a:rPr>
              <a:t>any</a:t>
            </a:r>
            <a:r>
              <a:rPr lang="en-GB">
                <a:solidFill>
                  <a:schemeClr val="dk1"/>
                </a:solidFill>
              </a:rPr>
              <a:t> DFA that is consistent with our observations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Example</a:t>
            </a:r>
            <a:r>
              <a:rPr lang="en-GB">
                <a:solidFill>
                  <a:schemeClr val="dk1"/>
                </a:solidFill>
              </a:rPr>
              <a:t>: If our table has 5 unique fingerprints, any correct DFA must have at least 5 states to represent those distinct behaviors.</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Significance</a:t>
            </a:r>
            <a:r>
              <a:rPr lang="en-GB">
                <a:solidFill>
                  <a:schemeClr val="dk1"/>
                </a:solidFill>
              </a:rPr>
              <a:t>: This lemma connects the size of our table to the size of the final DFA we are trying to learn. It proves that the number of unique rows we find can never exceed </a:t>
            </a:r>
            <a:r>
              <a:rPr lang="en-GB">
                <a:solidFill>
                  <a:schemeClr val="dk1"/>
                </a:solidFill>
                <a:latin typeface="Roboto Mono"/>
                <a:ea typeface="Roboto Mono"/>
                <a:cs typeface="Roboto Mono"/>
                <a:sym typeface="Roboto Mono"/>
              </a:rPr>
              <a:t>n</a:t>
            </a:r>
            <a:r>
              <a:rPr lang="en-GB">
                <a:solidFill>
                  <a:schemeClr val="dk1"/>
                </a:solidFill>
              </a:rPr>
              <a:t>, the number of states in the true minimal DFA.</a:t>
            </a:r>
            <a:endParaRPr>
              <a:solidFill>
                <a:schemeClr val="dk1"/>
              </a:solidFill>
            </a:endParaRPr>
          </a:p>
          <a:p>
            <a:pPr indent="0" lvl="0" marL="0" rtl="0" algn="l">
              <a:spcBef>
                <a:spcPts val="0"/>
              </a:spcBef>
              <a:spcAft>
                <a:spcPts val="0"/>
              </a:spcAft>
              <a:buNone/>
            </a:pPr>
            <a:r>
              <a:t/>
            </a:r>
            <a:endParaRPr sz="2100">
              <a:solidFill>
                <a:schemeClr val="dk1"/>
              </a:solidFill>
              <a:latin typeface="Merriweather"/>
              <a:ea typeface="Merriweather"/>
              <a:cs typeface="Merriweather"/>
              <a:sym typeface="Merriweath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13480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990"/>
              <a:buFont typeface="Arial"/>
              <a:buNone/>
            </a:pPr>
            <a:r>
              <a:rPr b="1" lang="en-GB" sz="1470"/>
              <a:t>Guarantee 1: The Table Stabilization Loop is Finite</a:t>
            </a:r>
            <a:endParaRPr b="1" sz="1470"/>
          </a:p>
          <a:p>
            <a:pPr indent="0" lvl="0" marL="0" rtl="0" algn="l">
              <a:spcBef>
                <a:spcPts val="400"/>
              </a:spcBef>
              <a:spcAft>
                <a:spcPts val="0"/>
              </a:spcAft>
              <a:buSzPts val="990"/>
              <a:buNone/>
            </a:pPr>
            <a:r>
              <a:t/>
            </a:r>
            <a:endParaRPr sz="2820"/>
          </a:p>
        </p:txBody>
      </p:sp>
      <p:sp>
        <p:nvSpPr>
          <p:cNvPr id="170" name="Google Shape;170;p31"/>
          <p:cNvSpPr txBox="1"/>
          <p:nvPr>
            <p:ph idx="1" type="body"/>
          </p:nvPr>
        </p:nvSpPr>
        <p:spPr>
          <a:xfrm>
            <a:off x="311700" y="4803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300">
                <a:latin typeface="Arial"/>
                <a:ea typeface="Arial"/>
                <a:cs typeface="Arial"/>
                <a:sym typeface="Arial"/>
              </a:rPr>
              <a:t>Every time the algorithm fixes the table, it makes measurable progress.</a:t>
            </a:r>
            <a:endParaRPr sz="1300">
              <a:latin typeface="Arial"/>
              <a:ea typeface="Arial"/>
              <a:cs typeface="Arial"/>
              <a:sym typeface="Arial"/>
            </a:endParaRPr>
          </a:p>
          <a:p>
            <a:pPr indent="-311150" lvl="0" marL="457200" rtl="0" algn="l">
              <a:spcBef>
                <a:spcPts val="1200"/>
              </a:spcBef>
              <a:spcAft>
                <a:spcPts val="0"/>
              </a:spcAft>
              <a:buSzPts val="1300"/>
              <a:buFont typeface="Arial"/>
              <a:buChar char="●"/>
            </a:pPr>
            <a:r>
              <a:rPr lang="en-GB" sz="1300">
                <a:latin typeface="Arial"/>
                <a:ea typeface="Arial"/>
                <a:cs typeface="Arial"/>
                <a:sym typeface="Arial"/>
              </a:rPr>
              <a:t>If the table is</a:t>
            </a:r>
            <a:br>
              <a:rPr lang="en-GB" sz="1300">
                <a:latin typeface="Arial"/>
                <a:ea typeface="Arial"/>
                <a:cs typeface="Arial"/>
                <a:sym typeface="Arial"/>
              </a:rPr>
            </a:br>
            <a:r>
              <a:rPr lang="en-GB" sz="1300">
                <a:latin typeface="Arial"/>
                <a:ea typeface="Arial"/>
                <a:cs typeface="Arial"/>
                <a:sym typeface="Arial"/>
              </a:rPr>
              <a:t> </a:t>
            </a:r>
            <a:r>
              <a:rPr b="1" lang="en-GB" sz="1300">
                <a:latin typeface="Arial"/>
                <a:ea typeface="Arial"/>
                <a:cs typeface="Arial"/>
                <a:sym typeface="Arial"/>
              </a:rPr>
              <a:t>not consistent</a:t>
            </a:r>
            <a:r>
              <a:rPr lang="en-GB" sz="1300">
                <a:latin typeface="Arial"/>
                <a:ea typeface="Arial"/>
                <a:cs typeface="Arial"/>
                <a:sym typeface="Arial"/>
              </a:rPr>
              <a:t>, fixing it splits one row into two, increasing the number of unique rows .</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GB" sz="1300">
                <a:latin typeface="Arial"/>
                <a:ea typeface="Arial"/>
                <a:cs typeface="Arial"/>
                <a:sym typeface="Arial"/>
              </a:rPr>
              <a:t>If the table is</a:t>
            </a:r>
            <a:br>
              <a:rPr lang="en-GB" sz="1300">
                <a:latin typeface="Arial"/>
                <a:ea typeface="Arial"/>
                <a:cs typeface="Arial"/>
                <a:sym typeface="Arial"/>
              </a:rPr>
            </a:br>
            <a:r>
              <a:rPr lang="en-GB" sz="1300">
                <a:latin typeface="Arial"/>
                <a:ea typeface="Arial"/>
                <a:cs typeface="Arial"/>
                <a:sym typeface="Arial"/>
              </a:rPr>
              <a:t> </a:t>
            </a:r>
            <a:r>
              <a:rPr b="1" lang="en-GB" sz="1300">
                <a:latin typeface="Arial"/>
                <a:ea typeface="Arial"/>
                <a:cs typeface="Arial"/>
                <a:sym typeface="Arial"/>
              </a:rPr>
              <a:t>not closed</a:t>
            </a:r>
            <a:r>
              <a:rPr lang="en-GB" sz="1300">
                <a:latin typeface="Arial"/>
                <a:ea typeface="Arial"/>
                <a:cs typeface="Arial"/>
                <a:sym typeface="Arial"/>
              </a:rPr>
              <a:t>, the algorithm adds a new prefix with a brand-new fingerprint, increasing the number of unique rows .</a:t>
            </a:r>
            <a:endParaRPr sz="13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GB" sz="1300">
                <a:latin typeface="Arial"/>
                <a:ea typeface="Arial"/>
                <a:cs typeface="Arial"/>
                <a:sym typeface="Arial"/>
              </a:rPr>
              <a:t>Conclusion</a:t>
            </a:r>
            <a:r>
              <a:rPr lang="en-GB" sz="1300">
                <a:latin typeface="Arial"/>
                <a:ea typeface="Arial"/>
                <a:cs typeface="Arial"/>
                <a:sym typeface="Arial"/>
              </a:rPr>
              <a:t>: Since the number of unique rows must be less than or equal to </a:t>
            </a:r>
            <a:r>
              <a:rPr lang="en-GB" sz="1300">
                <a:latin typeface="Roboto Mono"/>
                <a:ea typeface="Roboto Mono"/>
                <a:cs typeface="Roboto Mono"/>
                <a:sym typeface="Roboto Mono"/>
              </a:rPr>
              <a:t>n</a:t>
            </a:r>
            <a:r>
              <a:rPr lang="en-GB" sz="1300">
                <a:latin typeface="Arial"/>
                <a:ea typeface="Arial"/>
                <a:cs typeface="Arial"/>
                <a:sym typeface="Arial"/>
              </a:rPr>
              <a:t>, this stabilization process can only happen a finite number of times before the algorithm must make a conjecture, which is at most </a:t>
            </a:r>
            <a:r>
              <a:rPr b="1" lang="en-GB" sz="1300">
                <a:latin typeface="Arial"/>
                <a:ea typeface="Arial"/>
                <a:cs typeface="Arial"/>
                <a:sym typeface="Arial"/>
              </a:rPr>
              <a:t>(n-1)</a:t>
            </a:r>
            <a:r>
              <a:rPr lang="en-GB" sz="1300">
                <a:latin typeface="Arial"/>
                <a:ea typeface="Arial"/>
                <a:cs typeface="Arial"/>
                <a:sym typeface="Arial"/>
              </a:rPr>
              <a:t> times since initially at least one value of row(s) and there cannot be more than n.</a:t>
            </a:r>
            <a:endParaRPr sz="1300">
              <a:latin typeface="Arial"/>
              <a:ea typeface="Arial"/>
              <a:cs typeface="Arial"/>
              <a:sym typeface="Arial"/>
            </a:endParaRPr>
          </a:p>
          <a:p>
            <a:pPr indent="0" lvl="0" marL="0" rtl="0" algn="l">
              <a:spcBef>
                <a:spcPts val="0"/>
              </a:spcBef>
              <a:spcAft>
                <a:spcPts val="1200"/>
              </a:spcAft>
              <a:buNone/>
            </a:pPr>
            <a:r>
              <a:t/>
            </a:r>
            <a:endParaRPr sz="2000"/>
          </a:p>
        </p:txBody>
      </p:sp>
      <p:sp>
        <p:nvSpPr>
          <p:cNvPr id="171" name="Google Shape;171;p31"/>
          <p:cNvSpPr txBox="1"/>
          <p:nvPr/>
        </p:nvSpPr>
        <p:spPr>
          <a:xfrm>
            <a:off x="311700" y="2830225"/>
            <a:ext cx="5812800" cy="5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1"/>
                </a:solidFill>
              </a:rPr>
              <a:t>Guarantee 2: The Number of Guesses is Finite</a:t>
            </a:r>
            <a:endParaRPr b="1" sz="1500">
              <a:solidFill>
                <a:schemeClr val="dk1"/>
              </a:solidFill>
            </a:endParaRPr>
          </a:p>
        </p:txBody>
      </p:sp>
      <p:sp>
        <p:nvSpPr>
          <p:cNvPr id="172" name="Google Shape;172;p31"/>
          <p:cNvSpPr txBox="1"/>
          <p:nvPr/>
        </p:nvSpPr>
        <p:spPr>
          <a:xfrm>
            <a:off x="398825" y="3220300"/>
            <a:ext cx="7984500" cy="1654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a:solidFill>
                  <a:schemeClr val="dk1"/>
                </a:solidFill>
              </a:rPr>
              <a:t>The number of states in a conjectured DFA is equal to the number of unique rows in </a:t>
            </a:r>
            <a:r>
              <a:rPr lang="en-GB">
                <a:solidFill>
                  <a:schemeClr val="dk1"/>
                </a:solidFill>
                <a:latin typeface="Roboto Mono"/>
                <a:ea typeface="Roboto Mono"/>
                <a:cs typeface="Roboto Mono"/>
                <a:sym typeface="Roboto Mono"/>
              </a:rPr>
              <a:t>S</a:t>
            </a:r>
            <a:r>
              <a:rPr lang="en-GB">
                <a:solidFill>
                  <a:schemeClr val="dk1"/>
                </a:solidFill>
              </a:rPr>
              <a:t>.</a:t>
            </a: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When the Teacher provides a counterexample, the algorithm adds new information to </a:t>
            </a:r>
            <a:r>
              <a:rPr lang="en-GB">
                <a:solidFill>
                  <a:schemeClr val="dk1"/>
                </a:solidFill>
                <a:latin typeface="Roboto Mono"/>
                <a:ea typeface="Roboto Mono"/>
                <a:cs typeface="Roboto Mono"/>
                <a:sym typeface="Roboto Mono"/>
              </a:rPr>
              <a:t>S</a:t>
            </a:r>
            <a:r>
              <a:rPr lang="en-GB">
                <a:solidFill>
                  <a:schemeClr val="dk1"/>
                </a:solidFill>
              </a:rPr>
              <a:t>. The proof shows that this new information will force the next stable table to have</a:t>
            </a:r>
            <a:br>
              <a:rPr lang="en-GB">
                <a:solidFill>
                  <a:schemeClr val="dk1"/>
                </a:solidFill>
              </a:rPr>
            </a:br>
            <a:r>
              <a:rPr lang="en-GB">
                <a:solidFill>
                  <a:schemeClr val="dk1"/>
                </a:solidFill>
              </a:rPr>
              <a:t> </a:t>
            </a:r>
            <a:r>
              <a:rPr i="1" lang="en-GB">
                <a:solidFill>
                  <a:schemeClr val="dk1"/>
                </a:solidFill>
              </a:rPr>
              <a:t>more</a:t>
            </a:r>
            <a:r>
              <a:rPr lang="en-GB">
                <a:solidFill>
                  <a:schemeClr val="dk1"/>
                </a:solidFill>
              </a:rPr>
              <a:t> unique rows .</a:t>
            </a:r>
            <a:endParaRPr>
              <a:solidFill>
                <a:schemeClr val="dk1"/>
              </a:solidFill>
            </a:endParaRPr>
          </a:p>
          <a:p>
            <a:pPr indent="-317500" lvl="0" marL="457200" rtl="0" algn="l">
              <a:spcBef>
                <a:spcPts val="0"/>
              </a:spcBef>
              <a:spcAft>
                <a:spcPts val="0"/>
              </a:spcAft>
              <a:buClr>
                <a:schemeClr val="dk1"/>
              </a:buClr>
              <a:buSzPts val="1400"/>
              <a:buChar char="●"/>
            </a:pPr>
            <a:r>
              <a:rPr b="1" lang="en-GB">
                <a:solidFill>
                  <a:schemeClr val="dk1"/>
                </a:solidFill>
              </a:rPr>
              <a:t>Conclusion</a:t>
            </a:r>
            <a:r>
              <a:rPr lang="en-GB">
                <a:solidFill>
                  <a:schemeClr val="dk1"/>
                </a:solidFill>
              </a:rPr>
              <a:t>: The number of states in the sequence of incorrect DFAs is strictly increasing and is bounded by </a:t>
            </a:r>
            <a:r>
              <a:rPr lang="en-GB">
                <a:solidFill>
                  <a:schemeClr val="dk1"/>
                </a:solidFill>
                <a:latin typeface="Roboto Mono"/>
                <a:ea typeface="Roboto Mono"/>
                <a:cs typeface="Roboto Mono"/>
                <a:sym typeface="Roboto Mono"/>
              </a:rPr>
              <a:t>n</a:t>
            </a:r>
            <a:r>
              <a:rPr lang="en-GB">
                <a:solidFill>
                  <a:schemeClr val="dk1"/>
                </a:solidFill>
              </a:rPr>
              <a:t>. Therefore, the Learner can make at most </a:t>
            </a:r>
            <a:r>
              <a:rPr b="1" lang="en-GB">
                <a:solidFill>
                  <a:schemeClr val="dk1"/>
                </a:solidFill>
                <a:latin typeface="Roboto Mono"/>
                <a:ea typeface="Roboto Mono"/>
                <a:cs typeface="Roboto Mono"/>
                <a:sym typeface="Roboto Mono"/>
              </a:rPr>
              <a:t>n</a:t>
            </a:r>
            <a:r>
              <a:rPr lang="en-GB">
                <a:solidFill>
                  <a:schemeClr val="dk1"/>
                </a:solidFill>
              </a:rPr>
              <a:t> total conjectures before finding the correct one .</a:t>
            </a:r>
            <a:endParaRPr>
              <a:solidFill>
                <a:schemeClr val="dk1"/>
              </a:solidFill>
            </a:endParaRPr>
          </a:p>
          <a:p>
            <a:pPr indent="0" lvl="0" marL="0" rtl="0" algn="l">
              <a:spcBef>
                <a:spcPts val="0"/>
              </a:spcBef>
              <a:spcAft>
                <a:spcPts val="0"/>
              </a:spcAft>
              <a:buNone/>
            </a:pPr>
            <a:r>
              <a:t/>
            </a:r>
            <a:endParaRPr sz="2100">
              <a:solidFill>
                <a:schemeClr val="dk1"/>
              </a:solidFill>
              <a:latin typeface="Merriweather"/>
              <a:ea typeface="Merriweather"/>
              <a:cs typeface="Merriweather"/>
              <a:sym typeface="Merriweath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idx="1" type="body"/>
          </p:nvPr>
        </p:nvSpPr>
        <p:spPr>
          <a:xfrm>
            <a:off x="341250" y="368550"/>
            <a:ext cx="8520600" cy="440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716"/>
              <a:t>In short: L* correctly terminates after making at most n conjectures and executing its main loop at  a total of at most (n-1) times.</a:t>
            </a:r>
            <a:endParaRPr sz="1716"/>
          </a:p>
          <a:p>
            <a:pPr indent="0" lvl="0" marL="0" rtl="0" algn="l">
              <a:spcBef>
                <a:spcPts val="1200"/>
              </a:spcBef>
              <a:spcAft>
                <a:spcPts val="0"/>
              </a:spcAft>
              <a:buNone/>
            </a:pPr>
            <a:r>
              <a:rPr lang="en-GB"/>
              <a:t>Time analysis, The Key Parameters:</a:t>
            </a:r>
            <a:endParaRPr/>
          </a:p>
          <a:p>
            <a:pPr indent="-337065" lvl="0" marL="457200" rtl="0" algn="l">
              <a:spcBef>
                <a:spcPts val="1200"/>
              </a:spcBef>
              <a:spcAft>
                <a:spcPts val="0"/>
              </a:spcAft>
              <a:buSzPts val="1708"/>
              <a:buFont typeface="Arial"/>
              <a:buChar char="●"/>
            </a:pPr>
            <a:r>
              <a:rPr lang="en-GB" sz="1708">
                <a:latin typeface="Arial"/>
                <a:ea typeface="Arial"/>
                <a:cs typeface="Arial"/>
                <a:sym typeface="Arial"/>
              </a:rPr>
              <a:t>To analyze the algorithm's efficiency, the paper measures its work in terms of three key variables:</a:t>
            </a:r>
            <a:endParaRPr sz="1708">
              <a:latin typeface="Arial"/>
              <a:ea typeface="Arial"/>
              <a:cs typeface="Arial"/>
              <a:sym typeface="Arial"/>
            </a:endParaRPr>
          </a:p>
          <a:p>
            <a:pPr indent="-337065" lvl="1" marL="914400" rtl="0" algn="l">
              <a:spcBef>
                <a:spcPts val="0"/>
              </a:spcBef>
              <a:spcAft>
                <a:spcPts val="0"/>
              </a:spcAft>
              <a:buSzPts val="1708"/>
              <a:buFont typeface="Arial"/>
              <a:buChar char="○"/>
            </a:pPr>
            <a:r>
              <a:rPr b="1" lang="en-GB" sz="1708">
                <a:latin typeface="Roboto Mono"/>
                <a:ea typeface="Roboto Mono"/>
                <a:cs typeface="Roboto Mono"/>
                <a:sym typeface="Roboto Mono"/>
              </a:rPr>
              <a:t>n</a:t>
            </a:r>
            <a:r>
              <a:rPr lang="en-GB" sz="1708">
                <a:latin typeface="Arial"/>
                <a:ea typeface="Arial"/>
                <a:cs typeface="Arial"/>
                <a:sym typeface="Arial"/>
              </a:rPr>
              <a:t>: The number of states in the minimal DFA for the unknown language. This represents the complexity of the target.</a:t>
            </a:r>
            <a:endParaRPr sz="1708">
              <a:latin typeface="Arial"/>
              <a:ea typeface="Arial"/>
              <a:cs typeface="Arial"/>
              <a:sym typeface="Arial"/>
            </a:endParaRPr>
          </a:p>
          <a:p>
            <a:pPr indent="-337065" lvl="1" marL="914400" rtl="0" algn="l">
              <a:spcBef>
                <a:spcPts val="0"/>
              </a:spcBef>
              <a:spcAft>
                <a:spcPts val="0"/>
              </a:spcAft>
              <a:buSzPts val="1708"/>
              <a:buFont typeface="Arial"/>
              <a:buChar char="○"/>
            </a:pPr>
            <a:r>
              <a:rPr b="1" lang="en-GB" sz="1708">
                <a:latin typeface="Roboto Mono"/>
                <a:ea typeface="Roboto Mono"/>
                <a:cs typeface="Roboto Mono"/>
                <a:sym typeface="Roboto Mono"/>
              </a:rPr>
              <a:t>m</a:t>
            </a:r>
            <a:r>
              <a:rPr lang="en-GB" sz="1708">
                <a:latin typeface="Arial"/>
                <a:ea typeface="Arial"/>
                <a:cs typeface="Arial"/>
                <a:sym typeface="Arial"/>
              </a:rPr>
              <a:t>: The maximum length of any counterexample provided by the Teacher. This represents the complexity of the feedback.</a:t>
            </a:r>
            <a:endParaRPr sz="1708">
              <a:latin typeface="Arial"/>
              <a:ea typeface="Arial"/>
              <a:cs typeface="Arial"/>
              <a:sym typeface="Arial"/>
            </a:endParaRPr>
          </a:p>
          <a:p>
            <a:pPr indent="-337065" lvl="1" marL="914400" rtl="0" algn="l">
              <a:spcBef>
                <a:spcPts val="0"/>
              </a:spcBef>
              <a:spcAft>
                <a:spcPts val="0"/>
              </a:spcAft>
              <a:buSzPts val="1708"/>
              <a:buFont typeface="Arial"/>
              <a:buChar char="○"/>
            </a:pPr>
            <a:r>
              <a:rPr b="1" lang="en-GB" sz="1708">
                <a:latin typeface="Roboto Mono"/>
                <a:ea typeface="Roboto Mono"/>
                <a:cs typeface="Roboto Mono"/>
                <a:sym typeface="Roboto Mono"/>
              </a:rPr>
              <a:t>k</a:t>
            </a:r>
            <a:r>
              <a:rPr lang="en-GB" sz="1708">
                <a:latin typeface="Arial"/>
                <a:ea typeface="Arial"/>
                <a:cs typeface="Arial"/>
                <a:sym typeface="Arial"/>
              </a:rPr>
              <a:t>: The size of the alphabet </a:t>
            </a:r>
            <a:r>
              <a:rPr lang="en-GB" sz="1708">
                <a:latin typeface="Roboto Mono"/>
                <a:ea typeface="Roboto Mono"/>
                <a:cs typeface="Roboto Mono"/>
                <a:sym typeface="Roboto Mono"/>
              </a:rPr>
              <a:t>A</a:t>
            </a:r>
            <a:r>
              <a:rPr lang="en-GB" sz="1708">
                <a:latin typeface="Arial"/>
                <a:ea typeface="Arial"/>
                <a:cs typeface="Arial"/>
                <a:sym typeface="Arial"/>
              </a:rPr>
              <a:t>.</a:t>
            </a:r>
            <a:endParaRPr sz="1708">
              <a:latin typeface="Arial"/>
              <a:ea typeface="Arial"/>
              <a:cs typeface="Arial"/>
              <a:sym typeface="Arial"/>
            </a:endParaRPr>
          </a:p>
          <a:p>
            <a:pPr indent="-337065" lvl="0" marL="457200" rtl="0" algn="l">
              <a:spcBef>
                <a:spcPts val="0"/>
              </a:spcBef>
              <a:spcAft>
                <a:spcPts val="0"/>
              </a:spcAft>
              <a:buSzPts val="1708"/>
              <a:buFont typeface="Arial"/>
              <a:buChar char="●"/>
            </a:pPr>
            <a:r>
              <a:rPr lang="en-GB" sz="1708">
                <a:latin typeface="Arial"/>
                <a:ea typeface="Arial"/>
                <a:cs typeface="Arial"/>
                <a:sym typeface="Arial"/>
              </a:rPr>
              <a:t>The goal is to show that the total running time is a </a:t>
            </a:r>
            <a:r>
              <a:rPr b="1" lang="en-GB" sz="1708">
                <a:latin typeface="Arial"/>
                <a:ea typeface="Arial"/>
                <a:cs typeface="Arial"/>
                <a:sym typeface="Arial"/>
              </a:rPr>
              <a:t>polynomial function</a:t>
            </a:r>
            <a:r>
              <a:rPr lang="en-GB" sz="1708">
                <a:latin typeface="Arial"/>
                <a:ea typeface="Arial"/>
                <a:cs typeface="Arial"/>
                <a:sym typeface="Arial"/>
              </a:rPr>
              <a:t> of </a:t>
            </a:r>
            <a:r>
              <a:rPr lang="en-GB" sz="1708">
                <a:latin typeface="Roboto Mono"/>
                <a:ea typeface="Roboto Mono"/>
                <a:cs typeface="Roboto Mono"/>
                <a:sym typeface="Roboto Mono"/>
              </a:rPr>
              <a:t>m</a:t>
            </a:r>
            <a:r>
              <a:rPr lang="en-GB" sz="1708">
                <a:latin typeface="Arial"/>
                <a:ea typeface="Arial"/>
                <a:cs typeface="Arial"/>
                <a:sym typeface="Arial"/>
              </a:rPr>
              <a:t> and </a:t>
            </a:r>
            <a:r>
              <a:rPr lang="en-GB" sz="1708">
                <a:latin typeface="Roboto Mono"/>
                <a:ea typeface="Roboto Mono"/>
                <a:cs typeface="Roboto Mono"/>
                <a:sym typeface="Roboto Mono"/>
              </a:rPr>
              <a:t>n</a:t>
            </a:r>
            <a:r>
              <a:rPr lang="en-GB" sz="1708">
                <a:latin typeface="Arial"/>
                <a:ea typeface="Arial"/>
                <a:cs typeface="Arial"/>
                <a:sym typeface="Arial"/>
              </a:rPr>
              <a:t>.</a:t>
            </a:r>
            <a:endParaRPr sz="1708">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Bounding the Observation Table's Size</a:t>
            </a:r>
            <a:endParaRPr/>
          </a:p>
        </p:txBody>
      </p:sp>
      <p:sp>
        <p:nvSpPr>
          <p:cNvPr id="183" name="Google Shape;183;p33"/>
          <p:cNvSpPr txBox="1"/>
          <p:nvPr>
            <p:ph idx="1" type="body"/>
          </p:nvPr>
        </p:nvSpPr>
        <p:spPr>
          <a:xfrm>
            <a:off x="311700" y="1152475"/>
            <a:ext cx="8520600" cy="368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400">
                <a:latin typeface="Arial"/>
                <a:ea typeface="Arial"/>
                <a:cs typeface="Arial"/>
                <a:sym typeface="Arial"/>
              </a:rPr>
              <a:t>The analysis works by first finding upper bounds on the size of the observation table.</a:t>
            </a:r>
            <a:endParaRPr sz="14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GB" sz="1400">
                <a:latin typeface="Arial"/>
                <a:ea typeface="Arial"/>
                <a:cs typeface="Arial"/>
                <a:sym typeface="Arial"/>
              </a:rPr>
              <a:t>Bounding the Columns (</a:t>
            </a:r>
            <a:r>
              <a:rPr b="1" lang="en-GB" sz="1400">
                <a:latin typeface="Roboto Mono"/>
                <a:ea typeface="Roboto Mono"/>
                <a:cs typeface="Roboto Mono"/>
                <a:sym typeface="Roboto Mono"/>
              </a:rPr>
              <a:t>E</a:t>
            </a:r>
            <a:r>
              <a:rPr b="1" lang="en-GB" sz="1400">
                <a:latin typeface="Arial"/>
                <a:ea typeface="Arial"/>
                <a:cs typeface="Arial"/>
                <a:sym typeface="Arial"/>
              </a:rPr>
              <a:t>)</a:t>
            </a:r>
            <a:r>
              <a:rPr lang="en-GB" sz="1400">
                <a:latin typeface="Arial"/>
                <a:ea typeface="Arial"/>
                <a:cs typeface="Arial"/>
                <a:sym typeface="Arial"/>
              </a:rPr>
              <a:t>:</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lang="en-GB" sz="1400">
                <a:latin typeface="Arial"/>
                <a:ea typeface="Arial"/>
                <a:cs typeface="Arial"/>
                <a:sym typeface="Arial"/>
              </a:rPr>
              <a:t>The set </a:t>
            </a:r>
            <a:r>
              <a:rPr lang="en-GB" sz="1400">
                <a:latin typeface="Roboto Mono"/>
                <a:ea typeface="Roboto Mono"/>
                <a:cs typeface="Roboto Mono"/>
                <a:sym typeface="Roboto Mono"/>
              </a:rPr>
              <a:t>E</a:t>
            </a:r>
            <a:r>
              <a:rPr lang="en-GB" sz="1400">
                <a:latin typeface="Arial"/>
                <a:ea typeface="Arial"/>
                <a:cs typeface="Arial"/>
                <a:sym typeface="Arial"/>
              </a:rPr>
              <a:t> only grows when the table is found to be </a:t>
            </a:r>
            <a:r>
              <a:rPr b="1" lang="en-GB" sz="1400">
                <a:latin typeface="Arial"/>
                <a:ea typeface="Arial"/>
                <a:cs typeface="Arial"/>
                <a:sym typeface="Arial"/>
              </a:rPr>
              <a:t>not consistent</a:t>
            </a:r>
            <a:r>
              <a:rPr lang="en-GB" sz="1400">
                <a:latin typeface="Arial"/>
                <a:ea typeface="Arial"/>
                <a:cs typeface="Arial"/>
                <a:sym typeface="Arial"/>
              </a:rPr>
              <a:t>.</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GB" sz="1400">
                <a:latin typeface="Arial"/>
                <a:ea typeface="Arial"/>
                <a:cs typeface="Arial"/>
                <a:sym typeface="Arial"/>
              </a:rPr>
              <a:t>Fixing an inconsistency always increases the number of unique </a:t>
            </a:r>
            <a:r>
              <a:rPr lang="en-GB" sz="1400">
                <a:latin typeface="Roboto Mono"/>
                <a:ea typeface="Roboto Mono"/>
                <a:cs typeface="Roboto Mono"/>
                <a:sym typeface="Roboto Mono"/>
              </a:rPr>
              <a:t>row(s)</a:t>
            </a:r>
            <a:r>
              <a:rPr lang="en-GB" sz="1400">
                <a:latin typeface="Arial"/>
                <a:ea typeface="Arial"/>
                <a:cs typeface="Arial"/>
                <a:sym typeface="Arial"/>
              </a:rPr>
              <a:t> fingerprints.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GB" sz="1400">
                <a:latin typeface="Arial"/>
                <a:ea typeface="Arial"/>
                <a:cs typeface="Arial"/>
                <a:sym typeface="Arial"/>
              </a:rPr>
              <a:t>The number of unique fingerprints is capped by </a:t>
            </a:r>
            <a:r>
              <a:rPr lang="en-GB" sz="1400">
                <a:latin typeface="Roboto Mono"/>
                <a:ea typeface="Roboto Mono"/>
                <a:cs typeface="Roboto Mono"/>
                <a:sym typeface="Roboto Mono"/>
              </a:rPr>
              <a:t>n</a:t>
            </a:r>
            <a:r>
              <a:rPr lang="en-GB" sz="1400">
                <a:latin typeface="Arial"/>
                <a:ea typeface="Arial"/>
                <a:cs typeface="Arial"/>
                <a:sym typeface="Arial"/>
              </a:rPr>
              <a:t>.</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en-GB" sz="1400">
                <a:latin typeface="Arial"/>
                <a:ea typeface="Arial"/>
                <a:cs typeface="Arial"/>
                <a:sym typeface="Arial"/>
              </a:rPr>
              <a:t>Conclusion</a:t>
            </a:r>
            <a:r>
              <a:rPr lang="en-GB" sz="1400">
                <a:latin typeface="Arial"/>
                <a:ea typeface="Arial"/>
                <a:cs typeface="Arial"/>
                <a:sym typeface="Arial"/>
              </a:rPr>
              <a:t>: </a:t>
            </a:r>
            <a:r>
              <a:rPr lang="en-GB" sz="1400">
                <a:latin typeface="Roboto Mono"/>
                <a:ea typeface="Roboto Mono"/>
                <a:cs typeface="Roboto Mono"/>
                <a:sym typeface="Roboto Mono"/>
              </a:rPr>
              <a:t>|E|</a:t>
            </a:r>
            <a:r>
              <a:rPr lang="en-GB" sz="1400">
                <a:latin typeface="Arial"/>
                <a:ea typeface="Arial"/>
                <a:cs typeface="Arial"/>
                <a:sym typeface="Arial"/>
              </a:rPr>
              <a:t> can be at most </a:t>
            </a:r>
            <a:r>
              <a:rPr lang="en-GB" sz="1400">
                <a:latin typeface="Roboto Mono"/>
                <a:ea typeface="Roboto Mono"/>
                <a:cs typeface="Roboto Mono"/>
                <a:sym typeface="Roboto Mono"/>
              </a:rPr>
              <a:t>n</a:t>
            </a:r>
            <a:r>
              <a:rPr lang="en-GB" sz="1400">
                <a:latin typeface="Arial"/>
                <a:ea typeface="Arial"/>
                <a:cs typeface="Arial"/>
                <a:sym typeface="Arial"/>
              </a:rPr>
              <a:t> .</a:t>
            </a:r>
            <a:endParaRPr sz="14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GB" sz="1400">
                <a:latin typeface="Arial"/>
                <a:ea typeface="Arial"/>
                <a:cs typeface="Arial"/>
                <a:sym typeface="Arial"/>
              </a:rPr>
              <a:t>Bounding the Rows (</a:t>
            </a:r>
            <a:r>
              <a:rPr b="1" lang="en-GB" sz="1400">
                <a:latin typeface="Roboto Mono"/>
                <a:ea typeface="Roboto Mono"/>
                <a:cs typeface="Roboto Mono"/>
                <a:sym typeface="Roboto Mono"/>
              </a:rPr>
              <a:t>S</a:t>
            </a:r>
            <a:r>
              <a:rPr b="1" lang="en-GB" sz="1400">
                <a:latin typeface="Arial"/>
                <a:ea typeface="Arial"/>
                <a:cs typeface="Arial"/>
                <a:sym typeface="Arial"/>
              </a:rPr>
              <a:t>)</a:t>
            </a:r>
            <a:r>
              <a:rPr lang="en-GB" sz="1400">
                <a:latin typeface="Arial"/>
                <a:ea typeface="Arial"/>
                <a:cs typeface="Arial"/>
                <a:sym typeface="Arial"/>
              </a:rPr>
              <a:t>:</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lang="en-GB" sz="1400">
                <a:latin typeface="Arial"/>
                <a:ea typeface="Arial"/>
                <a:cs typeface="Arial"/>
                <a:sym typeface="Arial"/>
              </a:rPr>
              <a:t>The set </a:t>
            </a:r>
            <a:r>
              <a:rPr lang="en-GB" sz="1400">
                <a:latin typeface="Roboto Mono"/>
                <a:ea typeface="Roboto Mono"/>
                <a:cs typeface="Roboto Mono"/>
                <a:sym typeface="Roboto Mono"/>
              </a:rPr>
              <a:t>S</a:t>
            </a:r>
            <a:r>
              <a:rPr lang="en-GB" sz="1400">
                <a:latin typeface="Arial"/>
                <a:ea typeface="Arial"/>
                <a:cs typeface="Arial"/>
                <a:sym typeface="Arial"/>
              </a:rPr>
              <a:t> grows when the table is </a:t>
            </a:r>
            <a:r>
              <a:rPr b="1" lang="en-GB" sz="1400">
                <a:latin typeface="Arial"/>
                <a:ea typeface="Arial"/>
                <a:cs typeface="Arial"/>
                <a:sym typeface="Arial"/>
              </a:rPr>
              <a:t>not closed</a:t>
            </a:r>
            <a:r>
              <a:rPr lang="en-GB" sz="1400">
                <a:latin typeface="Arial"/>
                <a:ea typeface="Arial"/>
                <a:cs typeface="Arial"/>
                <a:sym typeface="Arial"/>
              </a:rPr>
              <a:t> (at most </a:t>
            </a:r>
            <a:r>
              <a:rPr lang="en-GB" sz="1400">
                <a:latin typeface="Roboto Mono"/>
                <a:ea typeface="Roboto Mono"/>
                <a:cs typeface="Roboto Mono"/>
                <a:sym typeface="Roboto Mono"/>
              </a:rPr>
              <a:t>n-1</a:t>
            </a:r>
            <a:r>
              <a:rPr lang="en-GB" sz="1400">
                <a:latin typeface="Arial"/>
                <a:ea typeface="Arial"/>
                <a:cs typeface="Arial"/>
                <a:sym typeface="Arial"/>
              </a:rPr>
              <a:t> times) or when a </a:t>
            </a:r>
            <a:r>
              <a:rPr b="1" lang="en-GB" sz="1400">
                <a:latin typeface="Arial"/>
                <a:ea typeface="Arial"/>
                <a:cs typeface="Arial"/>
                <a:sym typeface="Arial"/>
              </a:rPr>
              <a:t>counterexample</a:t>
            </a:r>
            <a:r>
              <a:rPr lang="en-GB" sz="1400">
                <a:latin typeface="Arial"/>
                <a:ea typeface="Arial"/>
                <a:cs typeface="Arial"/>
                <a:sym typeface="Arial"/>
              </a:rPr>
              <a:t> is processed (at most </a:t>
            </a:r>
            <a:r>
              <a:rPr lang="en-GB" sz="1400">
                <a:latin typeface="Roboto Mono"/>
                <a:ea typeface="Roboto Mono"/>
                <a:cs typeface="Roboto Mono"/>
                <a:sym typeface="Roboto Mono"/>
              </a:rPr>
              <a:t>n-1</a:t>
            </a:r>
            <a:r>
              <a:rPr lang="en-GB" sz="1400">
                <a:latin typeface="Arial"/>
                <a:ea typeface="Arial"/>
                <a:cs typeface="Arial"/>
                <a:sym typeface="Arial"/>
              </a:rPr>
              <a:t> times).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GB" sz="1400">
                <a:latin typeface="Arial"/>
                <a:ea typeface="Arial"/>
                <a:cs typeface="Arial"/>
                <a:sym typeface="Arial"/>
              </a:rPr>
              <a:t>Each counterexample (max length </a:t>
            </a:r>
            <a:r>
              <a:rPr lang="en-GB" sz="1400">
                <a:latin typeface="Roboto Mono"/>
                <a:ea typeface="Roboto Mono"/>
                <a:cs typeface="Roboto Mono"/>
                <a:sym typeface="Roboto Mono"/>
              </a:rPr>
              <a:t>m</a:t>
            </a:r>
            <a:r>
              <a:rPr lang="en-GB" sz="1400">
                <a:latin typeface="Arial"/>
                <a:ea typeface="Arial"/>
                <a:cs typeface="Arial"/>
                <a:sym typeface="Arial"/>
              </a:rPr>
              <a:t>) adds at most </a:t>
            </a:r>
            <a:r>
              <a:rPr lang="en-GB" sz="1400">
                <a:latin typeface="Roboto Mono"/>
                <a:ea typeface="Roboto Mono"/>
                <a:cs typeface="Roboto Mono"/>
                <a:sym typeface="Roboto Mono"/>
              </a:rPr>
              <a:t>m</a:t>
            </a:r>
            <a:r>
              <a:rPr lang="en-GB" sz="1400">
                <a:latin typeface="Arial"/>
                <a:ea typeface="Arial"/>
                <a:cs typeface="Arial"/>
                <a:sym typeface="Arial"/>
              </a:rPr>
              <a:t> prefixes to </a:t>
            </a:r>
            <a:r>
              <a:rPr lang="en-GB" sz="1400">
                <a:latin typeface="Roboto Mono"/>
                <a:ea typeface="Roboto Mono"/>
                <a:cs typeface="Roboto Mono"/>
                <a:sym typeface="Roboto Mono"/>
              </a:rPr>
              <a:t>S</a:t>
            </a:r>
            <a:r>
              <a:rPr lang="en-GB" sz="1400">
                <a:latin typeface="Arial"/>
                <a:ea typeface="Arial"/>
                <a:cs typeface="Arial"/>
                <a:sym typeface="Arial"/>
              </a:rPr>
              <a:t>.</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en-GB" sz="1400">
                <a:latin typeface="Arial"/>
                <a:ea typeface="Arial"/>
                <a:cs typeface="Arial"/>
                <a:sym typeface="Arial"/>
              </a:rPr>
              <a:t>Conclusion</a:t>
            </a:r>
            <a:r>
              <a:rPr lang="en-GB" sz="1400">
                <a:latin typeface="Arial"/>
                <a:ea typeface="Arial"/>
                <a:cs typeface="Arial"/>
                <a:sym typeface="Arial"/>
              </a:rPr>
              <a:t>: </a:t>
            </a:r>
            <a:r>
              <a:rPr lang="en-GB" sz="1400">
                <a:latin typeface="Roboto Mono"/>
                <a:ea typeface="Roboto Mono"/>
                <a:cs typeface="Roboto Mono"/>
                <a:sym typeface="Roboto Mono"/>
              </a:rPr>
              <a:t>|S|</a:t>
            </a:r>
            <a:r>
              <a:rPr lang="en-GB" sz="1400">
                <a:latin typeface="Arial"/>
                <a:ea typeface="Arial"/>
                <a:cs typeface="Arial"/>
                <a:sym typeface="Arial"/>
              </a:rPr>
              <a:t> is bounded by </a:t>
            </a:r>
            <a:r>
              <a:rPr lang="en-GB" sz="1400">
                <a:latin typeface="Roboto Mono"/>
                <a:ea typeface="Roboto Mono"/>
                <a:cs typeface="Roboto Mono"/>
                <a:sym typeface="Roboto Mono"/>
              </a:rPr>
              <a:t>n + m(n-1)</a:t>
            </a:r>
            <a:r>
              <a:rPr lang="en-GB" sz="1400">
                <a:latin typeface="Arial"/>
                <a:ea typeface="Arial"/>
                <a:cs typeface="Arial"/>
                <a:sym typeface="Arial"/>
              </a:rPr>
              <a:t>, which is </a:t>
            </a:r>
            <a:r>
              <a:rPr lang="en-GB" sz="1400">
                <a:latin typeface="Roboto Mono"/>
                <a:ea typeface="Roboto Mono"/>
                <a:cs typeface="Roboto Mono"/>
                <a:sym typeface="Roboto Mono"/>
              </a:rPr>
              <a:t>O(mn)</a:t>
            </a:r>
            <a:r>
              <a:rPr lang="en-GB" sz="1400">
                <a:latin typeface="Arial"/>
                <a:ea typeface="Arial"/>
                <a:cs typeface="Arial"/>
                <a:sym typeface="Arial"/>
              </a:rPr>
              <a:t>.</a:t>
            </a:r>
            <a:endParaRPr sz="2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idx="1" type="body"/>
          </p:nvPr>
        </p:nvSpPr>
        <p:spPr>
          <a:xfrm>
            <a:off x="311700" y="623400"/>
            <a:ext cx="8520600" cy="45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500">
                <a:latin typeface="Arial"/>
                <a:ea typeface="Arial"/>
                <a:cs typeface="Arial"/>
                <a:sym typeface="Arial"/>
              </a:rPr>
              <a:t>Bounding the String Lengths</a:t>
            </a:r>
            <a:r>
              <a:rPr lang="en-GB"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SzPts val="1500"/>
              <a:buFont typeface="Arial"/>
              <a:buChar char="●"/>
            </a:pPr>
            <a:r>
              <a:rPr lang="en-GB" sz="1500">
                <a:latin typeface="Arial"/>
                <a:ea typeface="Arial"/>
                <a:cs typeface="Arial"/>
                <a:sym typeface="Arial"/>
              </a:rPr>
              <a:t>The maximum length of any prefix in </a:t>
            </a:r>
            <a:r>
              <a:rPr lang="en-GB" sz="1500">
                <a:latin typeface="Roboto Mono"/>
                <a:ea typeface="Roboto Mono"/>
                <a:cs typeface="Roboto Mono"/>
                <a:sym typeface="Roboto Mono"/>
              </a:rPr>
              <a:t>S</a:t>
            </a:r>
            <a:r>
              <a:rPr lang="en-GB" sz="1500">
                <a:latin typeface="Arial"/>
                <a:ea typeface="Arial"/>
                <a:cs typeface="Arial"/>
                <a:sym typeface="Arial"/>
              </a:rPr>
              <a:t> is bounded by </a:t>
            </a:r>
            <a:r>
              <a:rPr lang="en-GB" sz="1500">
                <a:latin typeface="Roboto Mono"/>
                <a:ea typeface="Roboto Mono"/>
                <a:cs typeface="Roboto Mono"/>
                <a:sym typeface="Roboto Mono"/>
              </a:rPr>
              <a:t>m + n - 1</a:t>
            </a:r>
            <a:r>
              <a:rPr lang="en-GB" sz="1500">
                <a:latin typeface="Arial"/>
                <a:ea typeface="Arial"/>
                <a:cs typeface="Arial"/>
                <a:sym typeface="Arial"/>
              </a:rPr>
              <a:t> .</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GB" sz="1500">
                <a:latin typeface="Arial"/>
                <a:ea typeface="Arial"/>
                <a:cs typeface="Arial"/>
                <a:sym typeface="Arial"/>
              </a:rPr>
              <a:t>The maximum length of any experiment in </a:t>
            </a:r>
            <a:r>
              <a:rPr lang="en-GB" sz="1500">
                <a:latin typeface="Roboto Mono"/>
                <a:ea typeface="Roboto Mono"/>
                <a:cs typeface="Roboto Mono"/>
                <a:sym typeface="Roboto Mono"/>
              </a:rPr>
              <a:t>E</a:t>
            </a:r>
            <a:r>
              <a:rPr lang="en-GB" sz="1500">
                <a:latin typeface="Arial"/>
                <a:ea typeface="Arial"/>
                <a:cs typeface="Arial"/>
                <a:sym typeface="Arial"/>
              </a:rPr>
              <a:t> is bounded by </a:t>
            </a:r>
            <a:r>
              <a:rPr lang="en-GB" sz="1500">
                <a:latin typeface="Roboto Mono"/>
                <a:ea typeface="Roboto Mono"/>
                <a:cs typeface="Roboto Mono"/>
                <a:sym typeface="Roboto Mono"/>
              </a:rPr>
              <a:t>n - 1</a:t>
            </a:r>
            <a:r>
              <a:rPr lang="en-GB" sz="1500">
                <a:latin typeface="Arial"/>
                <a:ea typeface="Arial"/>
                <a:cs typeface="Arial"/>
                <a:sym typeface="Arial"/>
              </a:rPr>
              <a:t> .</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GB" sz="1500">
                <a:latin typeface="Arial"/>
                <a:ea typeface="Arial"/>
                <a:cs typeface="Arial"/>
                <a:sym typeface="Arial"/>
              </a:rPr>
              <a:t>Therefore, the maximum length of any string the Learner queries (</a:t>
            </a:r>
            <a:r>
              <a:rPr lang="en-GB" sz="1500">
                <a:latin typeface="Roboto Mono"/>
                <a:ea typeface="Roboto Mono"/>
                <a:cs typeface="Roboto Mono"/>
                <a:sym typeface="Roboto Mono"/>
              </a:rPr>
              <a:t>s·a·e</a:t>
            </a:r>
            <a:r>
              <a:rPr lang="en-GB" sz="1500">
                <a:latin typeface="Arial"/>
                <a:ea typeface="Arial"/>
                <a:cs typeface="Arial"/>
                <a:sym typeface="Arial"/>
              </a:rPr>
              <a:t>) is </a:t>
            </a:r>
            <a:r>
              <a:rPr lang="en-GB" sz="1500">
                <a:latin typeface="Roboto Mono"/>
                <a:ea typeface="Roboto Mono"/>
                <a:cs typeface="Roboto Mono"/>
                <a:sym typeface="Roboto Mono"/>
              </a:rPr>
              <a:t>O(m+n)</a:t>
            </a:r>
            <a:r>
              <a:rPr lang="en-GB" sz="1500">
                <a:latin typeface="Arial"/>
                <a:ea typeface="Arial"/>
                <a:cs typeface="Arial"/>
                <a:sym typeface="Arial"/>
              </a:rPr>
              <a:t> .</a:t>
            </a:r>
            <a:endParaRPr sz="15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GB" sz="1500">
                <a:latin typeface="Arial"/>
                <a:ea typeface="Arial"/>
                <a:cs typeface="Arial"/>
                <a:sym typeface="Arial"/>
              </a:rPr>
              <a:t>Total Table Size</a:t>
            </a:r>
            <a:r>
              <a:rPr lang="en-GB"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SzPts val="1500"/>
              <a:buFont typeface="Arial"/>
              <a:buChar char="●"/>
            </a:pPr>
            <a:r>
              <a:rPr lang="en-GB" sz="1500">
                <a:latin typeface="Arial"/>
                <a:ea typeface="Arial"/>
                <a:cs typeface="Arial"/>
                <a:sym typeface="Arial"/>
              </a:rPr>
              <a:t>The table has </a:t>
            </a:r>
            <a:r>
              <a:rPr lang="en-GB" sz="1500">
                <a:latin typeface="Roboto Mono"/>
                <a:ea typeface="Roboto Mono"/>
                <a:cs typeface="Roboto Mono"/>
                <a:sym typeface="Roboto Mono"/>
              </a:rPr>
              <a:t>|S ∪ S·A|</a:t>
            </a:r>
            <a:r>
              <a:rPr lang="en-GB" sz="1500">
                <a:latin typeface="Arial"/>
                <a:ea typeface="Arial"/>
                <a:cs typeface="Arial"/>
                <a:sym typeface="Arial"/>
              </a:rPr>
              <a:t> rows, which is </a:t>
            </a:r>
            <a:r>
              <a:rPr lang="en-GB" sz="1500">
                <a:latin typeface="Roboto Mono"/>
                <a:ea typeface="Roboto Mono"/>
                <a:cs typeface="Roboto Mono"/>
                <a:sym typeface="Roboto Mono"/>
              </a:rPr>
              <a:t>O(kmn)</a:t>
            </a:r>
            <a:r>
              <a:rPr lang="en-GB" sz="1500">
                <a:latin typeface="Arial"/>
                <a:ea typeface="Arial"/>
                <a:cs typeface="Arial"/>
                <a:sym typeface="Arial"/>
              </a:rPr>
              <a:t>.</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GB" sz="1500">
                <a:latin typeface="Arial"/>
                <a:ea typeface="Arial"/>
                <a:cs typeface="Arial"/>
                <a:sym typeface="Arial"/>
              </a:rPr>
              <a:t>With </a:t>
            </a:r>
            <a:r>
              <a:rPr lang="en-GB" sz="1500">
                <a:latin typeface="Roboto Mono"/>
                <a:ea typeface="Roboto Mono"/>
                <a:cs typeface="Roboto Mono"/>
                <a:sym typeface="Roboto Mono"/>
              </a:rPr>
              <a:t>O(n)</a:t>
            </a:r>
            <a:r>
              <a:rPr lang="en-GB" sz="1500">
                <a:latin typeface="Arial"/>
                <a:ea typeface="Arial"/>
                <a:cs typeface="Arial"/>
                <a:sym typeface="Arial"/>
              </a:rPr>
              <a:t> columns, the total size of the observation table is </a:t>
            </a:r>
            <a:r>
              <a:rPr b="1" lang="en-GB" sz="1500">
                <a:latin typeface="Arial"/>
                <a:ea typeface="Arial"/>
                <a:cs typeface="Arial"/>
                <a:sym typeface="Arial"/>
              </a:rPr>
              <a:t>polynomial</a:t>
            </a:r>
            <a:r>
              <a:rPr lang="en-GB" sz="1500">
                <a:latin typeface="Arial"/>
                <a:ea typeface="Arial"/>
                <a:cs typeface="Arial"/>
                <a:sym typeface="Arial"/>
              </a:rPr>
              <a:t> in </a:t>
            </a:r>
            <a:r>
              <a:rPr lang="en-GB" sz="1500">
                <a:latin typeface="Roboto Mono"/>
                <a:ea typeface="Roboto Mono"/>
                <a:cs typeface="Roboto Mono"/>
                <a:sym typeface="Roboto Mono"/>
              </a:rPr>
              <a:t>m</a:t>
            </a:r>
            <a:r>
              <a:rPr lang="en-GB" sz="1500">
                <a:latin typeface="Arial"/>
                <a:ea typeface="Arial"/>
                <a:cs typeface="Arial"/>
                <a:sym typeface="Arial"/>
              </a:rPr>
              <a:t> and </a:t>
            </a:r>
            <a:r>
              <a:rPr lang="en-GB" sz="1500">
                <a:latin typeface="Roboto Mono"/>
                <a:ea typeface="Roboto Mono"/>
                <a:cs typeface="Roboto Mono"/>
                <a:sym typeface="Roboto Mono"/>
              </a:rPr>
              <a:t>n(considerign k&lt;&lt;m and k&lt;&lt;n)</a:t>
            </a:r>
            <a:endParaRPr sz="1500">
              <a:latin typeface="Roboto Mono"/>
              <a:ea typeface="Roboto Mono"/>
              <a:cs typeface="Roboto Mono"/>
              <a:sym typeface="Roboto Mono"/>
            </a:endParaRPr>
          </a:p>
          <a:p>
            <a:pPr indent="0" lvl="0" marL="0" rtl="0" algn="l">
              <a:spcBef>
                <a:spcPts val="1200"/>
              </a:spcBef>
              <a:spcAft>
                <a:spcPts val="0"/>
              </a:spcAft>
              <a:buNone/>
            </a:pPr>
            <a:r>
              <a:rPr b="1" lang="en-GB" sz="1500">
                <a:latin typeface="Arial"/>
                <a:ea typeface="Arial"/>
                <a:cs typeface="Arial"/>
                <a:sym typeface="Arial"/>
              </a:rPr>
              <a:t>Conclusion</a:t>
            </a:r>
            <a:r>
              <a:rPr lang="en-GB" sz="1500">
                <a:latin typeface="Arial"/>
                <a:ea typeface="Arial"/>
                <a:cs typeface="Arial"/>
                <a:sym typeface="Arial"/>
              </a:rPr>
              <a:t>: The total running time of the L* algorithm is bounded by a </a:t>
            </a:r>
            <a:r>
              <a:rPr b="1" lang="en-GB" sz="1500">
                <a:latin typeface="Arial"/>
                <a:ea typeface="Arial"/>
                <a:cs typeface="Arial"/>
                <a:sym typeface="Arial"/>
              </a:rPr>
              <a:t>polynomial function of </a:t>
            </a:r>
            <a:r>
              <a:rPr b="1" lang="en-GB" sz="1500">
                <a:latin typeface="Roboto Mono"/>
                <a:ea typeface="Roboto Mono"/>
                <a:cs typeface="Roboto Mono"/>
                <a:sym typeface="Roboto Mono"/>
              </a:rPr>
              <a:t>m</a:t>
            </a:r>
            <a:r>
              <a:rPr b="1" lang="en-GB" sz="1500">
                <a:latin typeface="Arial"/>
                <a:ea typeface="Arial"/>
                <a:cs typeface="Arial"/>
                <a:sym typeface="Arial"/>
              </a:rPr>
              <a:t> and </a:t>
            </a:r>
            <a:r>
              <a:rPr b="1" lang="en-GB" sz="1500">
                <a:latin typeface="Roboto Mono"/>
                <a:ea typeface="Roboto Mono"/>
                <a:cs typeface="Roboto Mono"/>
                <a:sym typeface="Roboto Mono"/>
              </a:rPr>
              <a:t>n</a:t>
            </a:r>
            <a:r>
              <a:rPr lang="en-GB" sz="1500">
                <a:latin typeface="Arial"/>
                <a:ea typeface="Arial"/>
                <a:cs typeface="Arial"/>
                <a:sym typeface="Arial"/>
              </a:rPr>
              <a:t> .</a:t>
            </a:r>
            <a:endParaRPr sz="1500">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311700" y="174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Example Run For L*</a:t>
            </a:r>
            <a:endParaRPr b="1"/>
          </a:p>
        </p:txBody>
      </p:sp>
      <p:pic>
        <p:nvPicPr>
          <p:cNvPr id="194" name="Google Shape;194;p35"/>
          <p:cNvPicPr preferRelativeResize="0"/>
          <p:nvPr/>
        </p:nvPicPr>
        <p:blipFill rotWithShape="1">
          <a:blip r:embed="rId3">
            <a:alphaModFix/>
          </a:blip>
          <a:srcRect b="0" l="5825" r="4544" t="0"/>
          <a:stretch/>
        </p:blipFill>
        <p:spPr>
          <a:xfrm>
            <a:off x="311700" y="747600"/>
            <a:ext cx="2537525" cy="3820975"/>
          </a:xfrm>
          <a:prstGeom prst="rect">
            <a:avLst/>
          </a:prstGeom>
          <a:noFill/>
          <a:ln>
            <a:noFill/>
          </a:ln>
        </p:spPr>
      </p:pic>
      <p:pic>
        <p:nvPicPr>
          <p:cNvPr id="195" name="Google Shape;195;p35"/>
          <p:cNvPicPr preferRelativeResize="0"/>
          <p:nvPr/>
        </p:nvPicPr>
        <p:blipFill>
          <a:blip r:embed="rId4">
            <a:alphaModFix/>
          </a:blip>
          <a:stretch>
            <a:fillRect/>
          </a:stretch>
        </p:blipFill>
        <p:spPr>
          <a:xfrm>
            <a:off x="3136033" y="747600"/>
            <a:ext cx="2702524" cy="3820975"/>
          </a:xfrm>
          <a:prstGeom prst="rect">
            <a:avLst/>
          </a:prstGeom>
          <a:noFill/>
          <a:ln>
            <a:noFill/>
          </a:ln>
        </p:spPr>
      </p:pic>
      <p:pic>
        <p:nvPicPr>
          <p:cNvPr id="196" name="Google Shape;196;p35"/>
          <p:cNvPicPr preferRelativeResize="0"/>
          <p:nvPr/>
        </p:nvPicPr>
        <p:blipFill>
          <a:blip r:embed="rId5">
            <a:alphaModFix/>
          </a:blip>
          <a:stretch>
            <a:fillRect/>
          </a:stretch>
        </p:blipFill>
        <p:spPr>
          <a:xfrm>
            <a:off x="5945932" y="747600"/>
            <a:ext cx="2738929" cy="3820975"/>
          </a:xfrm>
          <a:prstGeom prst="rect">
            <a:avLst/>
          </a:prstGeom>
          <a:noFill/>
          <a:ln>
            <a:noFill/>
          </a:ln>
        </p:spPr>
      </p:pic>
      <p:sp>
        <p:nvSpPr>
          <p:cNvPr id="197" name="Google Shape;197;p35"/>
          <p:cNvSpPr txBox="1"/>
          <p:nvPr/>
        </p:nvSpPr>
        <p:spPr>
          <a:xfrm>
            <a:off x="317400" y="4765325"/>
            <a:ext cx="7000500" cy="3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Merriweather"/>
                <a:ea typeface="Merriweather"/>
                <a:cs typeface="Merriweather"/>
                <a:sym typeface="Merriweather"/>
              </a:rPr>
              <a:t>One problem is to find a </a:t>
            </a:r>
            <a:r>
              <a:rPr lang="en-GB" sz="1200">
                <a:solidFill>
                  <a:schemeClr val="dk1"/>
                </a:solidFill>
                <a:latin typeface="Merriweather"/>
                <a:ea typeface="Merriweather"/>
                <a:cs typeface="Merriweather"/>
                <a:sym typeface="Merriweather"/>
              </a:rPr>
              <a:t>method to reduce substantially the number of membership queries.</a:t>
            </a:r>
            <a:endParaRPr sz="1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1200">
              <a:solidFill>
                <a:schemeClr val="dk1"/>
              </a:solidFill>
              <a:latin typeface="Merriweather"/>
              <a:ea typeface="Merriweather"/>
              <a:cs typeface="Merriweather"/>
              <a:sym typeface="Merriweath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Finding Counter-Example Using Sampling</a:t>
            </a:r>
            <a:endParaRPr b="1"/>
          </a:p>
          <a:p>
            <a:pPr indent="0" lvl="0" marL="0" rtl="0" algn="l">
              <a:spcBef>
                <a:spcPts val="0"/>
              </a:spcBef>
              <a:spcAft>
                <a:spcPts val="0"/>
              </a:spcAft>
              <a:buNone/>
            </a:pPr>
            <a:r>
              <a:t/>
            </a:r>
            <a:endParaRPr b="1"/>
          </a:p>
        </p:txBody>
      </p:sp>
      <p:sp>
        <p:nvSpPr>
          <p:cNvPr id="203" name="Google Shape;2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latin typeface="Arial"/>
                <a:ea typeface="Arial"/>
                <a:cs typeface="Arial"/>
                <a:sym typeface="Arial"/>
              </a:rPr>
              <a:t>The requirements for the "minimally adequate Teacher" are so strong that they don't apply to most real-world learning problems. </a:t>
            </a:r>
            <a:endParaRPr sz="1400">
              <a:latin typeface="Arial"/>
              <a:ea typeface="Arial"/>
              <a:cs typeface="Arial"/>
              <a:sym typeface="Arial"/>
            </a:endParaRPr>
          </a:p>
          <a:p>
            <a:pPr indent="0" lvl="0" marL="0" rtl="0" algn="l">
              <a:spcBef>
                <a:spcPts val="1200"/>
              </a:spcBef>
              <a:spcAft>
                <a:spcPts val="0"/>
              </a:spcAft>
              <a:buNone/>
            </a:pPr>
            <a:r>
              <a:rPr b="1" lang="en-GB" sz="1200">
                <a:latin typeface="Arial"/>
                <a:ea typeface="Arial"/>
                <a:cs typeface="Arial"/>
                <a:sym typeface="Arial"/>
              </a:rPr>
              <a:t>Computational Hardness</a:t>
            </a:r>
            <a:r>
              <a:rPr lang="en-GB" sz="1200">
                <a:latin typeface="Arial"/>
                <a:ea typeface="Arial"/>
                <a:cs typeface="Arial"/>
                <a:sym typeface="Arial"/>
              </a:rPr>
              <a:t>: For many complex problems, it's computationally impossible or extremely difficult to definitively test if two hypotheses are equivalent. Finding a counterexample for a general hypothesis can be an NP-hard problem.</a:t>
            </a:r>
            <a:endParaRPr sz="1200">
              <a:latin typeface="Arial"/>
              <a:ea typeface="Arial"/>
              <a:cs typeface="Arial"/>
              <a:sym typeface="Arial"/>
            </a:endParaRPr>
          </a:p>
          <a:p>
            <a:pPr indent="0" lvl="0" marL="0" rtl="0" algn="l">
              <a:spcBef>
                <a:spcPts val="1200"/>
              </a:spcBef>
              <a:spcAft>
                <a:spcPts val="0"/>
              </a:spcAft>
              <a:buNone/>
            </a:pPr>
            <a:r>
              <a:rPr b="1" lang="en-GB" sz="1200">
                <a:latin typeface="Arial"/>
                <a:ea typeface="Arial"/>
                <a:cs typeface="Arial"/>
                <a:sym typeface="Arial"/>
              </a:rPr>
              <a:t>Need for a Perfect Oracle</a:t>
            </a:r>
            <a:r>
              <a:rPr lang="en-GB" sz="1200">
                <a:latin typeface="Arial"/>
                <a:ea typeface="Arial"/>
                <a:cs typeface="Arial"/>
                <a:sym typeface="Arial"/>
              </a:rPr>
              <a:t>: The MAT framework assumes the Teacher has perfect, complete knowledge of the "correct" hypothesis. In reality, data is often noisy, incomplete, or based on complex, unknown distributions. A system that can always provide a perfect counterexample simply doesn't exist for many domains.</a:t>
            </a:r>
            <a:endParaRPr sz="1200">
              <a:latin typeface="Arial"/>
              <a:ea typeface="Arial"/>
              <a:cs typeface="Arial"/>
              <a:sym typeface="Arial"/>
            </a:endParaRPr>
          </a:p>
          <a:p>
            <a:pPr indent="0" lvl="0" marL="0" rtl="0" algn="l">
              <a:spcBef>
                <a:spcPts val="1200"/>
              </a:spcBef>
              <a:spcAft>
                <a:spcPts val="1200"/>
              </a:spcAft>
              <a:buNone/>
            </a:pPr>
            <a:r>
              <a:rPr lang="en-GB" sz="1300">
                <a:latin typeface="Arial"/>
                <a:ea typeface="Arial"/>
                <a:cs typeface="Arial"/>
                <a:sym typeface="Arial"/>
              </a:rPr>
              <a:t>As a solution, it proposes a "stochastic setting" (incorporates </a:t>
            </a:r>
            <a:r>
              <a:rPr lang="en-GB" sz="1300">
                <a:latin typeface="Arial"/>
                <a:ea typeface="Arial"/>
                <a:cs typeface="Arial"/>
                <a:sym typeface="Arial"/>
              </a:rPr>
              <a:t>randomness</a:t>
            </a:r>
            <a:r>
              <a:rPr lang="en-GB" sz="1300">
                <a:latin typeface="Arial"/>
                <a:ea typeface="Arial"/>
                <a:cs typeface="Arial"/>
                <a:sym typeface="Arial"/>
              </a:rPr>
              <a:t> and probability) based on the work of Leslie Valiant, where the Teacher's role is simplified. Instead of giving definitive answers and counterexamples, the Learner uses a </a:t>
            </a:r>
            <a:r>
              <a:rPr b="1" lang="en-GB" sz="1300">
                <a:latin typeface="Arial"/>
                <a:ea typeface="Arial"/>
                <a:cs typeface="Arial"/>
                <a:sym typeface="Arial"/>
              </a:rPr>
              <a:t>random sampling oracle</a:t>
            </a:r>
            <a:r>
              <a:rPr lang="en-GB" sz="1300">
                <a:latin typeface="Arial"/>
                <a:ea typeface="Arial"/>
                <a:cs typeface="Arial"/>
                <a:sym typeface="Arial"/>
              </a:rPr>
              <a:t> to get random examples. The goal shifts from finding a perfectly correct hypothesis to finding one that is </a:t>
            </a:r>
            <a:r>
              <a:rPr b="1" lang="en-GB" sz="1300">
                <a:latin typeface="Arial"/>
                <a:ea typeface="Arial"/>
                <a:cs typeface="Arial"/>
                <a:sym typeface="Arial"/>
              </a:rPr>
              <a:t>approximately correct with high probability</a:t>
            </a:r>
            <a:r>
              <a:rPr lang="en-GB" sz="1300">
                <a:latin typeface="Arial"/>
                <a:ea typeface="Arial"/>
                <a:cs typeface="Arial"/>
                <a:sym typeface="Arial"/>
              </a:rPr>
              <a:t>.</a:t>
            </a:r>
            <a:endParaRPr sz="14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The Stochastic Setting</a:t>
            </a:r>
            <a:endParaRPr b="1"/>
          </a:p>
        </p:txBody>
      </p:sp>
      <p:sp>
        <p:nvSpPr>
          <p:cNvPr id="209" name="Google Shape;209;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Assume some probability distribution Pr (not known to learner) on set of all strings over the alphabet A. The learner has access to information about U by means of two oracles-</a:t>
            </a:r>
            <a:endParaRPr sz="1200">
              <a:latin typeface="Arial"/>
              <a:ea typeface="Arial"/>
              <a:cs typeface="Arial"/>
              <a:sym typeface="Arial"/>
            </a:endParaRPr>
          </a:p>
          <a:p>
            <a:pPr indent="-304800" lvl="0" marL="457200" rtl="0" algn="l">
              <a:spcBef>
                <a:spcPts val="1200"/>
              </a:spcBef>
              <a:spcAft>
                <a:spcPts val="0"/>
              </a:spcAft>
              <a:buSzPts val="1200"/>
              <a:buFont typeface="Arial"/>
              <a:buChar char="●"/>
            </a:pPr>
            <a:r>
              <a:rPr lang="en-GB" sz="1200">
                <a:latin typeface="Arial"/>
                <a:ea typeface="Arial"/>
                <a:cs typeface="Arial"/>
                <a:sym typeface="Arial"/>
              </a:rPr>
              <a:t>Membership Oracle- </a:t>
            </a:r>
            <a:r>
              <a:rPr b="1" lang="en-GB" sz="1200">
                <a:latin typeface="Arial"/>
                <a:ea typeface="Arial"/>
                <a:cs typeface="Arial"/>
                <a:sym typeface="Arial"/>
              </a:rPr>
              <a:t>Member(x)</a:t>
            </a:r>
            <a:br>
              <a:rPr b="1" lang="en-GB" sz="1200">
                <a:latin typeface="Arial"/>
                <a:ea typeface="Arial"/>
                <a:cs typeface="Arial"/>
                <a:sym typeface="Arial"/>
              </a:rPr>
            </a:br>
            <a:r>
              <a:rPr lang="en-GB" sz="1200">
                <a:latin typeface="Arial"/>
                <a:ea typeface="Arial"/>
                <a:cs typeface="Arial"/>
                <a:sym typeface="Arial"/>
              </a:rPr>
              <a:t>Returns yes if x is an element of U(language) and no otherwise.</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Random Sampling Oracle- </a:t>
            </a:r>
            <a:r>
              <a:rPr b="1" lang="en-GB" sz="1200">
                <a:latin typeface="Arial"/>
                <a:ea typeface="Arial"/>
                <a:cs typeface="Arial"/>
                <a:sym typeface="Arial"/>
              </a:rPr>
              <a:t>EX()</a:t>
            </a:r>
            <a:br>
              <a:rPr b="1" lang="en-GB" sz="1200">
                <a:latin typeface="Arial"/>
                <a:ea typeface="Arial"/>
                <a:cs typeface="Arial"/>
                <a:sym typeface="Arial"/>
              </a:rPr>
            </a:br>
            <a:r>
              <a:rPr lang="en-GB" sz="1200">
                <a:latin typeface="Arial"/>
                <a:ea typeface="Arial"/>
                <a:cs typeface="Arial"/>
                <a:sym typeface="Arial"/>
              </a:rPr>
              <a:t>It selects a string x from A* according to the distribution Pr and returns the pair (x,d), where d is yes if x is in U and otherwise no. Separate calls to EX() are statistically independent events.</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In addition, events. the Learner is given, at the start of the computation, two positive numbers between 0 and 1, the accuracy ε and the confidence δ. </a:t>
            </a:r>
            <a:endParaRPr sz="1200">
              <a:latin typeface="Arial"/>
              <a:ea typeface="Arial"/>
              <a:cs typeface="Arial"/>
              <a:sym typeface="Arial"/>
            </a:endParaRPr>
          </a:p>
        </p:txBody>
      </p:sp>
      <p:sp>
        <p:nvSpPr>
          <p:cNvPr id="210" name="Google Shape;210;p37"/>
          <p:cNvSpPr txBox="1"/>
          <p:nvPr/>
        </p:nvSpPr>
        <p:spPr>
          <a:xfrm>
            <a:off x="4526725" y="94925"/>
            <a:ext cx="4108200" cy="10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1"/>
                </a:solidFill>
              </a:rPr>
              <a:t>In computational theory, an </a:t>
            </a:r>
            <a:r>
              <a:rPr b="1" lang="en-GB" sz="1100">
                <a:solidFill>
                  <a:schemeClr val="dk1"/>
                </a:solidFill>
              </a:rPr>
              <a:t>oracle</a:t>
            </a:r>
            <a:r>
              <a:rPr lang="en-GB" sz="1100">
                <a:solidFill>
                  <a:schemeClr val="dk1"/>
                </a:solidFill>
              </a:rPr>
              <a:t> is a theoretical "black box" that can solve a specific problem instantly and with perfect accuracy. It is a concept used to study the limits of what a computer can do.</a:t>
            </a:r>
            <a:endParaRPr sz="1100">
              <a:solidFill>
                <a:schemeClr val="dk1"/>
              </a:solidFill>
            </a:endParaRPr>
          </a:p>
          <a:p>
            <a:pPr indent="0" lvl="0" marL="0" rtl="0" algn="l">
              <a:spcBef>
                <a:spcPts val="0"/>
              </a:spcBef>
              <a:spcAft>
                <a:spcPts val="0"/>
              </a:spcAft>
              <a:buNone/>
            </a:pPr>
            <a:r>
              <a:rPr lang="en-GB" sz="1100">
                <a:solidFill>
                  <a:schemeClr val="dk1"/>
                </a:solidFill>
              </a:rPr>
              <a:t>Eg- Kind of like a magic 8-ball🎱</a:t>
            </a: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Approximation </a:t>
            </a:r>
            <a:endParaRPr b="1"/>
          </a:p>
        </p:txBody>
      </p:sp>
      <p:sp>
        <p:nvSpPr>
          <p:cNvPr id="216" name="Google Shape;21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latin typeface="Arial"/>
                <a:ea typeface="Arial"/>
                <a:cs typeface="Arial"/>
                <a:sym typeface="Arial"/>
              </a:rPr>
              <a:t>L</a:t>
            </a:r>
            <a:r>
              <a:rPr lang="en-GB" sz="1400">
                <a:latin typeface="Arial"/>
                <a:ea typeface="Arial"/>
                <a:cs typeface="Arial"/>
                <a:sym typeface="Arial"/>
              </a:rPr>
              <a:t>et ε denote a positive number between 0 and 1, and let V and W denote sets of strings over the alphabet A. V is an ε-approximation that</a:t>
            </a:r>
            <a:endParaRPr sz="1400">
              <a:latin typeface="Arial"/>
              <a:ea typeface="Arial"/>
              <a:cs typeface="Arial"/>
              <a:sym typeface="Arial"/>
            </a:endParaRPr>
          </a:p>
          <a:p>
            <a:pPr indent="0" lvl="0" marL="0" rtl="0" algn="l">
              <a:spcBef>
                <a:spcPts val="1200"/>
              </a:spcBef>
              <a:spcAft>
                <a:spcPts val="0"/>
              </a:spcAft>
              <a:buNone/>
            </a:pPr>
            <a:r>
              <a:t/>
            </a:r>
            <a:endParaRPr sz="1400">
              <a:latin typeface="Arial"/>
              <a:ea typeface="Arial"/>
              <a:cs typeface="Arial"/>
              <a:sym typeface="Arial"/>
            </a:endParaRPr>
          </a:p>
          <a:p>
            <a:pPr indent="0" lvl="0" marL="0" rtl="0" algn="l">
              <a:spcBef>
                <a:spcPts val="1200"/>
              </a:spcBef>
              <a:spcAft>
                <a:spcPts val="0"/>
              </a:spcAft>
              <a:buNone/>
            </a:pPr>
            <a:r>
              <a:rPr lang="en-GB" sz="1400">
                <a:latin typeface="Arial"/>
                <a:ea typeface="Arial"/>
                <a:cs typeface="Arial"/>
                <a:sym typeface="Arial"/>
              </a:rPr>
              <a:t>(V⊕W denotes the symmetric difference of V and W, that is, the elements that are in exactly one of the two sets). If M is a dfa, it is said to be an ε-approximation of the set W provided the set of strings V accepted by M is an ε-approximation of W. </a:t>
            </a:r>
            <a:endParaRPr sz="1400">
              <a:latin typeface="Arial"/>
              <a:ea typeface="Arial"/>
              <a:cs typeface="Arial"/>
              <a:sym typeface="Arial"/>
            </a:endParaRPr>
          </a:p>
          <a:p>
            <a:pPr indent="0" lvl="0" marL="0" rtl="0" algn="l">
              <a:spcBef>
                <a:spcPts val="1200"/>
              </a:spcBef>
              <a:spcAft>
                <a:spcPts val="1200"/>
              </a:spcAft>
              <a:buNone/>
            </a:pPr>
            <a:r>
              <a:rPr lang="en-GB" sz="1400">
                <a:latin typeface="Arial"/>
                <a:ea typeface="Arial"/>
                <a:cs typeface="Arial"/>
                <a:sym typeface="Arial"/>
              </a:rPr>
              <a:t>If M is a</a:t>
            </a:r>
            <a:r>
              <a:rPr lang="en-GB" sz="1400">
                <a:latin typeface="Arial"/>
                <a:ea typeface="Arial"/>
                <a:cs typeface="Arial"/>
                <a:sym typeface="Arial"/>
              </a:rPr>
              <a:t>n </a:t>
            </a:r>
            <a:r>
              <a:rPr lang="en-GB" sz="1400">
                <a:latin typeface="Arial"/>
                <a:ea typeface="Arial"/>
                <a:cs typeface="Arial"/>
                <a:sym typeface="Arial"/>
              </a:rPr>
              <a:t>ε-approximation of U, then the </a:t>
            </a:r>
            <a:r>
              <a:rPr lang="en-GB" sz="1400">
                <a:latin typeface="Arial"/>
                <a:ea typeface="Arial"/>
                <a:cs typeface="Arial"/>
                <a:sym typeface="Arial"/>
              </a:rPr>
              <a:t>probability</a:t>
            </a:r>
            <a:r>
              <a:rPr lang="en-GB" sz="1400">
                <a:latin typeface="Arial"/>
                <a:ea typeface="Arial"/>
                <a:cs typeface="Arial"/>
                <a:sym typeface="Arial"/>
              </a:rPr>
              <a:t> of finding a discrepancy between the set accepted by M and U with one call to the random sampling oracle EX() is at most ε.</a:t>
            </a:r>
            <a:endParaRPr sz="1400">
              <a:latin typeface="Arial"/>
              <a:ea typeface="Arial"/>
              <a:cs typeface="Arial"/>
              <a:sym typeface="Arial"/>
            </a:endParaRPr>
          </a:p>
        </p:txBody>
      </p:sp>
      <p:pic>
        <p:nvPicPr>
          <p:cNvPr id="217" name="Google Shape;217;p38"/>
          <p:cNvPicPr preferRelativeResize="0"/>
          <p:nvPr/>
        </p:nvPicPr>
        <p:blipFill>
          <a:blip r:embed="rId3">
            <a:alphaModFix/>
          </a:blip>
          <a:stretch>
            <a:fillRect/>
          </a:stretch>
        </p:blipFill>
        <p:spPr>
          <a:xfrm>
            <a:off x="3467125" y="1558325"/>
            <a:ext cx="1661631" cy="572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The </a:t>
            </a:r>
            <a:r>
              <a:rPr b="1" lang="en-GB"/>
              <a:t>Approximate</a:t>
            </a:r>
            <a:r>
              <a:rPr b="1" lang="en-GB"/>
              <a:t> Learner La*(</a:t>
            </a:r>
            <a:r>
              <a:rPr b="1" lang="en-GB" sz="2750"/>
              <a:t>Modified L*)</a:t>
            </a:r>
            <a:endParaRPr b="1" baseline="30000" sz="2750"/>
          </a:p>
        </p:txBody>
      </p:sp>
      <p:sp>
        <p:nvSpPr>
          <p:cNvPr id="223" name="Google Shape;223;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A membership query of the sting x is </a:t>
            </a:r>
            <a:r>
              <a:rPr lang="en-GB" sz="1200">
                <a:latin typeface="Arial"/>
                <a:ea typeface="Arial"/>
                <a:cs typeface="Arial"/>
                <a:sym typeface="Arial"/>
              </a:rPr>
              <a:t>satisfied</a:t>
            </a:r>
            <a:r>
              <a:rPr lang="en-GB" sz="1200">
                <a:latin typeface="Arial"/>
                <a:ea typeface="Arial"/>
                <a:cs typeface="Arial"/>
                <a:sym typeface="Arial"/>
              </a:rPr>
              <a:t> by a call to Member(x).</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Each conjecture is tested be a number of calls to EX(). If any of the calls returns a pair (t,d) such that d=yes but M rejects it or vice versa, then t is said to be the counterexample and proceeds to modify its hypothesis just like L*. If none of the calls returns a counterexample, it halts with output M. The number of calls depend on the accuracy ε and confidence δ parameters, as well as how many previous conjectures it has tested. </a:t>
            </a:r>
            <a:endParaRPr sz="1200">
              <a:latin typeface="Arial"/>
              <a:ea typeface="Arial"/>
              <a:cs typeface="Arial"/>
              <a:sym typeface="Arial"/>
            </a:endParaRPr>
          </a:p>
        </p:txBody>
      </p:sp>
      <p:pic>
        <p:nvPicPr>
          <p:cNvPr id="224" name="Google Shape;224;p39"/>
          <p:cNvPicPr preferRelativeResize="0"/>
          <p:nvPr/>
        </p:nvPicPr>
        <p:blipFill>
          <a:blip r:embed="rId3">
            <a:alphaModFix/>
          </a:blip>
          <a:stretch>
            <a:fillRect/>
          </a:stretch>
        </p:blipFill>
        <p:spPr>
          <a:xfrm>
            <a:off x="5239688" y="2266950"/>
            <a:ext cx="3076575" cy="609600"/>
          </a:xfrm>
          <a:prstGeom prst="rect">
            <a:avLst/>
          </a:prstGeom>
          <a:noFill/>
          <a:ln>
            <a:noFill/>
          </a:ln>
        </p:spPr>
      </p:pic>
      <p:pic>
        <p:nvPicPr>
          <p:cNvPr id="225" name="Google Shape;225;p39"/>
          <p:cNvPicPr preferRelativeResize="0"/>
          <p:nvPr/>
        </p:nvPicPr>
        <p:blipFill>
          <a:blip r:embed="rId4">
            <a:alphaModFix/>
          </a:blip>
          <a:stretch>
            <a:fillRect/>
          </a:stretch>
        </p:blipFill>
        <p:spPr>
          <a:xfrm>
            <a:off x="446750" y="2959675"/>
            <a:ext cx="5543100" cy="1751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40"/>
          <p:cNvPicPr preferRelativeResize="0"/>
          <p:nvPr/>
        </p:nvPicPr>
        <p:blipFill>
          <a:blip r:embed="rId3">
            <a:alphaModFix/>
          </a:blip>
          <a:stretch>
            <a:fillRect/>
          </a:stretch>
        </p:blipFill>
        <p:spPr>
          <a:xfrm>
            <a:off x="227325" y="152400"/>
            <a:ext cx="4344675" cy="4838699"/>
          </a:xfrm>
          <a:prstGeom prst="rect">
            <a:avLst/>
          </a:prstGeom>
          <a:noFill/>
          <a:ln>
            <a:noFill/>
          </a:ln>
        </p:spPr>
      </p:pic>
      <p:sp>
        <p:nvSpPr>
          <p:cNvPr id="231" name="Google Shape;231;p40"/>
          <p:cNvSpPr txBox="1"/>
          <p:nvPr/>
        </p:nvSpPr>
        <p:spPr>
          <a:xfrm>
            <a:off x="4572000" y="365850"/>
            <a:ext cx="4231800" cy="44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Running Time of La*-</a:t>
            </a:r>
            <a:endParaRPr sz="1200">
              <a:solidFill>
                <a:schemeClr val="dk1"/>
              </a:solidFill>
            </a:endParaRPr>
          </a:p>
          <a:p>
            <a:pPr indent="0" lvl="0" marL="0" rtl="0" algn="l">
              <a:spcBef>
                <a:spcPts val="0"/>
              </a:spcBef>
              <a:spcAft>
                <a:spcPts val="0"/>
              </a:spcAft>
              <a:buNone/>
            </a:pPr>
            <a:r>
              <a:rPr lang="en-GB" sz="1200">
                <a:solidFill>
                  <a:schemeClr val="dk1"/>
                </a:solidFill>
              </a:rPr>
              <a:t>If n is the number of states of minimum dfa for U and m is an </a:t>
            </a:r>
            <a:r>
              <a:rPr lang="en-GB" sz="1200">
                <a:solidFill>
                  <a:schemeClr val="dk1"/>
                </a:solidFill>
              </a:rPr>
              <a:t>upper bound</a:t>
            </a:r>
            <a:r>
              <a:rPr lang="en-GB" sz="1200">
                <a:solidFill>
                  <a:schemeClr val="dk1"/>
                </a:solidFill>
              </a:rPr>
              <a:t> on the length of any string returned by EX() during the </a:t>
            </a:r>
            <a:r>
              <a:rPr lang="en-GB" sz="1200">
                <a:solidFill>
                  <a:schemeClr val="dk1"/>
                </a:solidFill>
              </a:rPr>
              <a:t>run, then the running time is bounded by a polynomial in m and n. If the distribution Pr is such that it concentrates a lot of probability on very long strings (compared to n), then this is not much of a guarantee.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GB" sz="1200">
                <a:solidFill>
                  <a:schemeClr val="dk1"/>
                </a:solidFill>
              </a:rPr>
              <a:t>We can do preliminary sampling from Ex() to determine a cutoff length l such that with probability at least (1-δ/2) the weight of the strings longer than l is at most ε/2. Then La* runs as before replacing the parameter by their new values and ignoring any strings that are longer than l.</a:t>
            </a:r>
            <a:endParaRPr sz="1200">
              <a:solidFill>
                <a:schemeClr val="dk1"/>
              </a:solidFill>
            </a:endParaRPr>
          </a:p>
        </p:txBody>
      </p:sp>
      <p:pic>
        <p:nvPicPr>
          <p:cNvPr id="232" name="Google Shape;232;p40"/>
          <p:cNvPicPr preferRelativeResize="0"/>
          <p:nvPr/>
        </p:nvPicPr>
        <p:blipFill>
          <a:blip r:embed="rId4">
            <a:alphaModFix/>
          </a:blip>
          <a:stretch>
            <a:fillRect/>
          </a:stretch>
        </p:blipFill>
        <p:spPr>
          <a:xfrm>
            <a:off x="4468850" y="2983725"/>
            <a:ext cx="4438100" cy="1562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Context-Free </a:t>
            </a:r>
            <a:r>
              <a:rPr b="1" lang="en-GB"/>
              <a:t>Grammars (Special Case)</a:t>
            </a:r>
            <a:endParaRPr b="1"/>
          </a:p>
        </p:txBody>
      </p:sp>
      <p:sp>
        <p:nvSpPr>
          <p:cNvPr id="238" name="Google Shape;238;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latin typeface="Arial"/>
                <a:ea typeface="Arial"/>
                <a:cs typeface="Arial"/>
                <a:sym typeface="Arial"/>
              </a:rPr>
              <a:t>Assumes it also answers “existential queries” and “termination queries”. Now, we describe a Learner L</a:t>
            </a:r>
            <a:r>
              <a:rPr baseline="30000" lang="en-GB" sz="1400">
                <a:latin typeface="Arial"/>
                <a:ea typeface="Arial"/>
                <a:cs typeface="Arial"/>
                <a:sym typeface="Arial"/>
              </a:rPr>
              <a:t>cf </a:t>
            </a:r>
            <a:r>
              <a:rPr lang="en-GB" sz="1400">
                <a:latin typeface="Arial"/>
                <a:ea typeface="Arial"/>
                <a:cs typeface="Arial"/>
                <a:sym typeface="Arial"/>
              </a:rPr>
              <a:t> for a class of context free languages. There is an unknown context </a:t>
            </a:r>
            <a:r>
              <a:rPr lang="en-GB" sz="1400">
                <a:latin typeface="Arial"/>
                <a:ea typeface="Arial"/>
                <a:cs typeface="Arial"/>
                <a:sym typeface="Arial"/>
              </a:rPr>
              <a:t>free grammar G. The learner knowns the set of terminal symbols T, the set of non-terminal symbols V and the start symbol S of G. The queries-</a:t>
            </a:r>
            <a:endParaRPr sz="1400">
              <a:latin typeface="Arial"/>
              <a:ea typeface="Arial"/>
              <a:cs typeface="Arial"/>
              <a:sym typeface="Arial"/>
            </a:endParaRPr>
          </a:p>
          <a:p>
            <a:pPr indent="-317500" lvl="0" marL="457200" rtl="0" algn="l">
              <a:spcBef>
                <a:spcPts val="1200"/>
              </a:spcBef>
              <a:spcAft>
                <a:spcPts val="0"/>
              </a:spcAft>
              <a:buSzPts val="1400"/>
              <a:buFont typeface="Arial"/>
              <a:buChar char="●"/>
            </a:pPr>
            <a:r>
              <a:rPr lang="en-GB" sz="1400">
                <a:latin typeface="Arial"/>
                <a:ea typeface="Arial"/>
                <a:cs typeface="Arial"/>
                <a:sym typeface="Arial"/>
              </a:rPr>
              <a:t>Membership query - MEMBER(x,A) where x is a string of terminals and A is a non-terminal symbol. It determines whether the string x can be derived from A using the rules of G, answering yes if so or no otherwise.</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GB" sz="1400">
                <a:latin typeface="Arial"/>
                <a:ea typeface="Arial"/>
                <a:cs typeface="Arial"/>
                <a:sym typeface="Arial"/>
              </a:rPr>
              <a:t>Conjecture query - EQUIV(H) where H is a context-free grammar. It determines of they are equivalent(they generate the same set of terminal strings from the start symbol S). If so it replies yes, otherwise gives a counterexample. (This can also be replaced by sampling as in the previous section.)</a:t>
            </a:r>
            <a:endParaRPr sz="1400">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Learner L</a:t>
            </a:r>
            <a:r>
              <a:rPr baseline="30000" lang="en-GB"/>
              <a:t>cf</a:t>
            </a:r>
            <a:endParaRPr/>
          </a:p>
        </p:txBody>
      </p:sp>
      <p:sp>
        <p:nvSpPr>
          <p:cNvPr id="244" name="Google Shape;244;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500">
                <a:latin typeface="Arial"/>
                <a:ea typeface="Arial"/>
                <a:cs typeface="Arial"/>
                <a:sym typeface="Arial"/>
              </a:rPr>
              <a:t>T</a:t>
            </a:r>
            <a:r>
              <a:rPr lang="en-GB" sz="1500">
                <a:latin typeface="Arial"/>
                <a:ea typeface="Arial"/>
                <a:cs typeface="Arial"/>
                <a:sym typeface="Arial"/>
              </a:rPr>
              <a:t>he restriction to grammars in Chomsky normal form and the Learner’s knowledge of T and V imply that the L</a:t>
            </a:r>
            <a:r>
              <a:rPr baseline="30000" lang="en-GB" sz="1500">
                <a:latin typeface="Arial"/>
                <a:ea typeface="Arial"/>
                <a:cs typeface="Arial"/>
                <a:sym typeface="Arial"/>
              </a:rPr>
              <a:t>cf</a:t>
            </a:r>
            <a:r>
              <a:rPr lang="en-GB" sz="1500">
                <a:latin typeface="Arial"/>
                <a:ea typeface="Arial"/>
                <a:cs typeface="Arial"/>
                <a:sym typeface="Arial"/>
              </a:rPr>
              <a:t> can explicitly enumerate all the possible productions of G in time bounded by a polynomial in the cardinalities of T and V. </a:t>
            </a:r>
            <a:endParaRPr sz="1500">
              <a:latin typeface="Arial"/>
              <a:ea typeface="Arial"/>
              <a:cs typeface="Arial"/>
              <a:sym typeface="Arial"/>
            </a:endParaRPr>
          </a:p>
          <a:p>
            <a:pPr indent="0" lvl="0" marL="0" rtl="0" algn="l">
              <a:spcBef>
                <a:spcPts val="1200"/>
              </a:spcBef>
              <a:spcAft>
                <a:spcPts val="0"/>
              </a:spcAft>
              <a:buNone/>
            </a:pPr>
            <a:r>
              <a:rPr lang="en-GB" sz="1500">
                <a:latin typeface="Arial"/>
                <a:ea typeface="Arial"/>
                <a:cs typeface="Arial"/>
                <a:sym typeface="Arial"/>
              </a:rPr>
              <a:t>We begin with all the possible production rules, P. The main loop asks EQUIV(H) question for the </a:t>
            </a:r>
            <a:r>
              <a:rPr lang="en-GB" sz="1500">
                <a:latin typeface="Arial"/>
                <a:ea typeface="Arial"/>
                <a:cs typeface="Arial"/>
                <a:sym typeface="Arial"/>
              </a:rPr>
              <a:t>grammar</a:t>
            </a:r>
            <a:r>
              <a:rPr lang="en-GB" sz="1500">
                <a:latin typeface="Arial"/>
                <a:ea typeface="Arial"/>
                <a:cs typeface="Arial"/>
                <a:sym typeface="Arial"/>
              </a:rPr>
              <a:t> H with T, V, S and P. If equivalent, it halts with output H. Otherwise, it “diagnoses” the counterexample (say t) </a:t>
            </a:r>
            <a:r>
              <a:rPr lang="en-GB" sz="1500">
                <a:latin typeface="Arial"/>
                <a:ea typeface="Arial"/>
                <a:cs typeface="Arial"/>
                <a:sym typeface="Arial"/>
              </a:rPr>
              <a:t>returned, which result in at least production rule being removed from P. this process is then repeated.</a:t>
            </a:r>
            <a:endParaRPr sz="1500">
              <a:latin typeface="Arial"/>
              <a:ea typeface="Arial"/>
              <a:cs typeface="Arial"/>
              <a:sym typeface="Arial"/>
            </a:endParaRPr>
          </a:p>
          <a:p>
            <a:pPr indent="0" lvl="0" marL="0" rtl="0" algn="l">
              <a:spcBef>
                <a:spcPts val="1200"/>
              </a:spcBef>
              <a:spcAft>
                <a:spcPts val="1200"/>
              </a:spcAft>
              <a:buNone/>
            </a:pPr>
            <a:r>
              <a:rPr lang="en-GB" sz="1500">
                <a:latin typeface="Arial"/>
                <a:ea typeface="Arial"/>
                <a:cs typeface="Arial"/>
                <a:sym typeface="Arial"/>
              </a:rPr>
              <a:t>In particular, the set P will always contain the productions of G as a subset, so the grammar H will always generate a superset of the strings generated by G. Hence, the only type of counterexample is one that is generated by H but not G.</a:t>
            </a:r>
            <a:endParaRPr sz="1500">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Diagnosis</a:t>
            </a:r>
            <a:endParaRPr b="1"/>
          </a:p>
          <a:p>
            <a:pPr indent="0" lvl="0" marL="0" rtl="0" algn="l">
              <a:spcBef>
                <a:spcPts val="0"/>
              </a:spcBef>
              <a:spcAft>
                <a:spcPts val="0"/>
              </a:spcAft>
              <a:buNone/>
            </a:pPr>
            <a:r>
              <a:t/>
            </a:r>
            <a:endParaRPr/>
          </a:p>
        </p:txBody>
      </p:sp>
      <p:sp>
        <p:nvSpPr>
          <p:cNvPr id="250" name="Google Shape;250;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GB" sz="1200"/>
              <a:t> </a:t>
            </a:r>
            <a:r>
              <a:rPr lang="en-GB" sz="1200">
                <a:latin typeface="Arial"/>
                <a:ea typeface="Arial"/>
                <a:cs typeface="Arial"/>
                <a:sym typeface="Arial"/>
              </a:rPr>
              <a:t>Based on Shapiro’s diagnosis algorithm to find a parse tree for t.</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It then uses membership queries to check parts if the parse tree against the true </a:t>
            </a:r>
            <a:r>
              <a:rPr lang="en-GB" sz="1200">
                <a:latin typeface="Arial"/>
                <a:ea typeface="Arial"/>
                <a:cs typeface="Arial"/>
                <a:sym typeface="Arial"/>
              </a:rPr>
              <a:t>grammar</a:t>
            </a:r>
            <a:r>
              <a:rPr lang="en-GB" sz="1200">
                <a:latin typeface="Arial"/>
                <a:ea typeface="Arial"/>
                <a:cs typeface="Arial"/>
                <a:sym typeface="Arial"/>
              </a:rPr>
              <a:t> G.</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The algorithm is guaranteed to terminate because at least one incorrect rule is removed with each counterexample, and the initial set of rules is finite.</a:t>
            </a:r>
            <a:endParaRPr sz="1200">
              <a:latin typeface="Arial"/>
              <a:ea typeface="Arial"/>
              <a:cs typeface="Arial"/>
              <a:sym typeface="Arial"/>
            </a:endParaRPr>
          </a:p>
        </p:txBody>
      </p:sp>
      <p:pic>
        <p:nvPicPr>
          <p:cNvPr id="251" name="Google Shape;251;p43"/>
          <p:cNvPicPr preferRelativeResize="0"/>
          <p:nvPr/>
        </p:nvPicPr>
        <p:blipFill>
          <a:blip r:embed="rId3">
            <a:alphaModFix/>
          </a:blip>
          <a:stretch>
            <a:fillRect/>
          </a:stretch>
        </p:blipFill>
        <p:spPr>
          <a:xfrm>
            <a:off x="4658050" y="1895325"/>
            <a:ext cx="4174251" cy="2673550"/>
          </a:xfrm>
          <a:prstGeom prst="rect">
            <a:avLst/>
          </a:prstGeom>
          <a:noFill/>
          <a:ln>
            <a:noFill/>
          </a:ln>
        </p:spPr>
      </p:pic>
      <p:pic>
        <p:nvPicPr>
          <p:cNvPr id="252" name="Google Shape;252;p43"/>
          <p:cNvPicPr preferRelativeResize="0"/>
          <p:nvPr/>
        </p:nvPicPr>
        <p:blipFill>
          <a:blip r:embed="rId4">
            <a:alphaModFix/>
          </a:blip>
          <a:stretch>
            <a:fillRect/>
          </a:stretch>
        </p:blipFill>
        <p:spPr>
          <a:xfrm>
            <a:off x="397750" y="2611313"/>
            <a:ext cx="4174250" cy="12415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Additional Comments</a:t>
            </a:r>
            <a:endParaRPr b="1"/>
          </a:p>
        </p:txBody>
      </p:sp>
      <p:sp>
        <p:nvSpPr>
          <p:cNvPr id="258" name="Google Shape;258;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78571"/>
              <a:buFont typeface="Arial"/>
              <a:buNone/>
            </a:pPr>
            <a:r>
              <a:rPr b="1" lang="en-GB" sz="1400">
                <a:latin typeface="Arial"/>
                <a:ea typeface="Arial"/>
                <a:cs typeface="Arial"/>
                <a:sym typeface="Arial"/>
              </a:rPr>
              <a:t>L</a:t>
            </a:r>
            <a:r>
              <a:rPr b="1" baseline="30000" lang="en-GB" sz="1400">
                <a:latin typeface="Arial"/>
                <a:ea typeface="Arial"/>
                <a:cs typeface="Arial"/>
                <a:sym typeface="Arial"/>
              </a:rPr>
              <a:t>cf</a:t>
            </a:r>
            <a:r>
              <a:rPr b="1" lang="en-GB" sz="1400">
                <a:latin typeface="Arial"/>
                <a:ea typeface="Arial"/>
                <a:cs typeface="Arial"/>
                <a:sym typeface="Arial"/>
              </a:rPr>
              <a:t> vs. L*</a:t>
            </a:r>
            <a:r>
              <a:rPr lang="en-GB" sz="1400">
                <a:latin typeface="Arial"/>
                <a:ea typeface="Arial"/>
                <a:cs typeface="Arial"/>
                <a:sym typeface="Arial"/>
              </a:rPr>
              <a:t>: The Lf learning algorithm is simpler than L* because L</a:t>
            </a:r>
            <a:r>
              <a:rPr baseline="30000" lang="en-GB" sz="1400">
                <a:latin typeface="Arial"/>
                <a:ea typeface="Arial"/>
                <a:cs typeface="Arial"/>
                <a:sym typeface="Arial"/>
              </a:rPr>
              <a:t>cf</a:t>
            </a:r>
            <a:r>
              <a:rPr lang="en-GB" sz="1400">
                <a:latin typeface="Arial"/>
                <a:ea typeface="Arial"/>
                <a:cs typeface="Arial"/>
                <a:sym typeface="Arial"/>
              </a:rPr>
              <a:t> doesn't use information about non-terminal sets or the "enriched" membership queries that are available to L*.</a:t>
            </a:r>
            <a:endParaRPr sz="1400">
              <a:latin typeface="Arial"/>
              <a:ea typeface="Arial"/>
              <a:cs typeface="Arial"/>
              <a:sym typeface="Arial"/>
            </a:endParaRPr>
          </a:p>
          <a:p>
            <a:pPr indent="0" lvl="0" marL="0" rtl="0" algn="l">
              <a:spcBef>
                <a:spcPts val="1200"/>
              </a:spcBef>
              <a:spcAft>
                <a:spcPts val="0"/>
              </a:spcAft>
              <a:buClr>
                <a:schemeClr val="dk1"/>
              </a:buClr>
              <a:buSzPct val="78571"/>
              <a:buFont typeface="Arial"/>
              <a:buNone/>
            </a:pPr>
            <a:r>
              <a:rPr b="1" lang="en-GB" sz="1400">
                <a:latin typeface="Arial"/>
                <a:ea typeface="Arial"/>
                <a:cs typeface="Arial"/>
                <a:sym typeface="Arial"/>
              </a:rPr>
              <a:t>Feasibility of Queries</a:t>
            </a:r>
            <a:r>
              <a:rPr lang="en-GB" sz="1400">
                <a:latin typeface="Arial"/>
                <a:ea typeface="Arial"/>
                <a:cs typeface="Arial"/>
                <a:sym typeface="Arial"/>
              </a:rPr>
              <a:t>: The membership questions are computationally feasible (solvable in polynomial time), but the equivalence query is </a:t>
            </a:r>
            <a:r>
              <a:rPr b="1" lang="en-GB" sz="1400">
                <a:latin typeface="Arial"/>
                <a:ea typeface="Arial"/>
                <a:cs typeface="Arial"/>
                <a:sym typeface="Arial"/>
              </a:rPr>
              <a:t>not generally decidable</a:t>
            </a:r>
            <a:r>
              <a:rPr lang="en-GB" sz="1400">
                <a:latin typeface="Arial"/>
                <a:ea typeface="Arial"/>
                <a:cs typeface="Arial"/>
                <a:sym typeface="Arial"/>
              </a:rPr>
              <a:t>. This means it's often impossible to build a practical, "minimally adequate Teacher" for this domain, which is why a stochastic (probabilistic) approach might be better.</a:t>
            </a:r>
            <a:endParaRPr sz="1400">
              <a:latin typeface="Arial"/>
              <a:ea typeface="Arial"/>
              <a:cs typeface="Arial"/>
              <a:sym typeface="Arial"/>
            </a:endParaRPr>
          </a:p>
          <a:p>
            <a:pPr indent="0" lvl="0" marL="0" rtl="0" algn="l">
              <a:spcBef>
                <a:spcPts val="1200"/>
              </a:spcBef>
              <a:spcAft>
                <a:spcPts val="0"/>
              </a:spcAft>
              <a:buClr>
                <a:schemeClr val="dk1"/>
              </a:buClr>
              <a:buSzPct val="78571"/>
              <a:buFont typeface="Arial"/>
              <a:buNone/>
            </a:pPr>
            <a:r>
              <a:rPr b="1" lang="en-GB" sz="1400">
                <a:latin typeface="Arial"/>
                <a:ea typeface="Arial"/>
                <a:cs typeface="Arial"/>
                <a:sym typeface="Arial"/>
              </a:rPr>
              <a:t>Counterexample Length</a:t>
            </a:r>
            <a:r>
              <a:rPr lang="en-GB" sz="1400">
                <a:latin typeface="Arial"/>
                <a:ea typeface="Arial"/>
                <a:cs typeface="Arial"/>
                <a:sym typeface="Arial"/>
              </a:rPr>
              <a:t>: Unlike DFAs, the shortest counterexample for a grammar is not guaranteed to be short. A grammar can be constructed where the smallest counterexample to an initial hypothesis is a very long string, making the learning process slow. Eg - Strings of 1’s whose length is not a positive </a:t>
            </a:r>
            <a:r>
              <a:rPr lang="en-GB" sz="1400">
                <a:latin typeface="Arial"/>
                <a:ea typeface="Arial"/>
                <a:cs typeface="Arial"/>
                <a:sym typeface="Arial"/>
              </a:rPr>
              <a:t>multiple</a:t>
            </a:r>
            <a:r>
              <a:rPr lang="en-GB" sz="1400">
                <a:latin typeface="Arial"/>
                <a:ea typeface="Arial"/>
                <a:cs typeface="Arial"/>
                <a:sym typeface="Arial"/>
              </a:rPr>
              <a:t> of fac(n).</a:t>
            </a:r>
            <a:endParaRPr sz="1400">
              <a:latin typeface="Arial"/>
              <a:ea typeface="Arial"/>
              <a:cs typeface="Arial"/>
              <a:sym typeface="Arial"/>
            </a:endParaRPr>
          </a:p>
          <a:p>
            <a:pPr indent="0" lvl="0" marL="0" rtl="0" algn="l">
              <a:spcBef>
                <a:spcPts val="1200"/>
              </a:spcBef>
              <a:spcAft>
                <a:spcPts val="0"/>
              </a:spcAft>
              <a:buClr>
                <a:schemeClr val="dk1"/>
              </a:buClr>
              <a:buSzPct val="78571"/>
              <a:buFont typeface="Arial"/>
              <a:buNone/>
            </a:pPr>
            <a:r>
              <a:rPr b="1" lang="en-GB" sz="1400">
                <a:latin typeface="Arial"/>
                <a:ea typeface="Arial"/>
                <a:cs typeface="Arial"/>
                <a:sym typeface="Arial"/>
              </a:rPr>
              <a:t>Grammar Form and Convergence</a:t>
            </a:r>
            <a:r>
              <a:rPr lang="en-GB" sz="1400">
                <a:latin typeface="Arial"/>
                <a:ea typeface="Arial"/>
                <a:cs typeface="Arial"/>
                <a:sym typeface="Arial"/>
              </a:rPr>
              <a:t>: The use of a specific type of grammar (Chomsky normal form) ensures the initial set of production rules is of a manageable size. The learning process then converges by iteratively removing rules, creating a "decreasing chain of subsets" until it reaches the correct hypothesis.</a:t>
            </a:r>
            <a:endParaRPr sz="1400">
              <a:latin typeface="Arial"/>
              <a:ea typeface="Arial"/>
              <a:cs typeface="Arial"/>
              <a:sym typeface="Arial"/>
            </a:endParaRPr>
          </a:p>
          <a:p>
            <a:pPr indent="0" lvl="0" marL="0" rtl="0" algn="l">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Open Problems</a:t>
            </a:r>
            <a:endParaRPr b="1"/>
          </a:p>
        </p:txBody>
      </p:sp>
      <p:pic>
        <p:nvPicPr>
          <p:cNvPr id="264" name="Google Shape;264;p45"/>
          <p:cNvPicPr preferRelativeResize="0"/>
          <p:nvPr/>
        </p:nvPicPr>
        <p:blipFill>
          <a:blip r:embed="rId3">
            <a:alphaModFix/>
          </a:blip>
          <a:stretch>
            <a:fillRect/>
          </a:stretch>
        </p:blipFill>
        <p:spPr>
          <a:xfrm>
            <a:off x="152400" y="1170125"/>
            <a:ext cx="4545375" cy="3054975"/>
          </a:xfrm>
          <a:prstGeom prst="rect">
            <a:avLst/>
          </a:prstGeom>
          <a:noFill/>
          <a:ln>
            <a:noFill/>
          </a:ln>
        </p:spPr>
      </p:pic>
      <p:pic>
        <p:nvPicPr>
          <p:cNvPr id="265" name="Google Shape;265;p45"/>
          <p:cNvPicPr preferRelativeResize="0"/>
          <p:nvPr/>
        </p:nvPicPr>
        <p:blipFill>
          <a:blip r:embed="rId4">
            <a:alphaModFix/>
          </a:blip>
          <a:stretch>
            <a:fillRect/>
          </a:stretch>
        </p:blipFill>
        <p:spPr>
          <a:xfrm>
            <a:off x="4571997" y="2118085"/>
            <a:ext cx="4241674" cy="907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